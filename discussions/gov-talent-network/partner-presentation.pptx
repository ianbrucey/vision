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0" y="1645920"/>
            <a:ext cx="12191695" cy="1097280"/>
          </a:xfrm>
          <a:prstGeom prst="rect">
            <a:avLst/>
          </a:prstGeom>
          <a:noFill/>
        </p:spPr>
        <p:txBody>
          <a:bodyPr wrap="square">
            <a:spAutoFit/>
          </a:bodyPr>
          <a:lstStyle/>
          <a:p>
            <a:pPr algn="ctr">
              <a:defRPr sz="5200" b="1">
                <a:solidFill>
                  <a:srgbClr val="FFFFFF"/>
                </a:solidFill>
                <a:latin typeface="Arial"/>
              </a:defRPr>
            </a:pPr>
            <a:r>
              <a:t>GovCon Engine</a:t>
            </a:r>
          </a:p>
        </p:txBody>
      </p:sp>
      <p:sp>
        <p:nvSpPr>
          <p:cNvPr id="3" name="TextBox 2"/>
          <p:cNvSpPr txBox="1"/>
          <p:nvPr/>
        </p:nvSpPr>
        <p:spPr>
          <a:xfrm>
            <a:off x="0" y="2743200"/>
            <a:ext cx="12191695" cy="548640"/>
          </a:xfrm>
          <a:prstGeom prst="rect">
            <a:avLst/>
          </a:prstGeom>
          <a:noFill/>
        </p:spPr>
        <p:txBody>
          <a:bodyPr wrap="square">
            <a:spAutoFit/>
          </a:bodyPr>
          <a:lstStyle/>
          <a:p>
            <a:pPr algn="ctr">
              <a:defRPr sz="2200" b="0">
                <a:solidFill>
                  <a:srgbClr val="6B7080"/>
                </a:solidFill>
                <a:latin typeface="Arial"/>
              </a:defRPr>
            </a:pPr>
            <a:r>
              <a:t>A Software-Powered Federal Contracting Company</a:t>
            </a:r>
          </a:p>
        </p:txBody>
      </p:sp>
      <p:sp>
        <p:nvSpPr>
          <p:cNvPr id="4" name="TextBox 3"/>
          <p:cNvSpPr txBox="1"/>
          <p:nvPr/>
        </p:nvSpPr>
        <p:spPr>
          <a:xfrm>
            <a:off x="2926080" y="3566160"/>
            <a:ext cx="1645920" cy="548640"/>
          </a:xfrm>
          <a:prstGeom prst="rect">
            <a:avLst/>
          </a:prstGeom>
          <a:noFill/>
        </p:spPr>
        <p:txBody>
          <a:bodyPr wrap="square">
            <a:spAutoFit/>
          </a:bodyPr>
          <a:lstStyle/>
          <a:p>
            <a:pPr algn="ctr">
              <a:defRPr sz="3600" b="1">
                <a:solidFill>
                  <a:srgbClr val="C9A84C"/>
                </a:solidFill>
                <a:latin typeface="Arial"/>
              </a:defRPr>
            </a:pPr>
            <a:r>
              <a:t>2,000+</a:t>
            </a:r>
          </a:p>
        </p:txBody>
      </p:sp>
      <p:sp>
        <p:nvSpPr>
          <p:cNvPr id="5" name="TextBox 4"/>
          <p:cNvSpPr txBox="1"/>
          <p:nvPr/>
        </p:nvSpPr>
        <p:spPr>
          <a:xfrm>
            <a:off x="2926080" y="4069080"/>
            <a:ext cx="1645920" cy="365760"/>
          </a:xfrm>
          <a:prstGeom prst="rect">
            <a:avLst/>
          </a:prstGeom>
          <a:noFill/>
        </p:spPr>
        <p:txBody>
          <a:bodyPr wrap="square">
            <a:spAutoFit/>
          </a:bodyPr>
          <a:lstStyle/>
          <a:p>
            <a:pPr algn="ctr">
              <a:defRPr sz="1100" b="0">
                <a:solidFill>
                  <a:srgbClr val="6B7080"/>
                </a:solidFill>
                <a:latin typeface="Arial"/>
              </a:defRPr>
            </a:pPr>
            <a:r>
              <a:t>daily solicitations</a:t>
            </a:r>
          </a:p>
        </p:txBody>
      </p:sp>
      <p:sp>
        <p:nvSpPr>
          <p:cNvPr id="6" name="TextBox 5"/>
          <p:cNvSpPr txBox="1"/>
          <p:nvPr/>
        </p:nvSpPr>
        <p:spPr>
          <a:xfrm>
            <a:off x="5212080" y="3566160"/>
            <a:ext cx="1645920" cy="548640"/>
          </a:xfrm>
          <a:prstGeom prst="rect">
            <a:avLst/>
          </a:prstGeom>
          <a:noFill/>
        </p:spPr>
        <p:txBody>
          <a:bodyPr wrap="square">
            <a:spAutoFit/>
          </a:bodyPr>
          <a:lstStyle/>
          <a:p>
            <a:pPr algn="ctr">
              <a:defRPr sz="3600" b="1">
                <a:solidFill>
                  <a:srgbClr val="C9A84C"/>
                </a:solidFill>
                <a:latin typeface="Arial"/>
              </a:defRPr>
            </a:pPr>
            <a:r>
              <a:t>~200</a:t>
            </a:r>
          </a:p>
        </p:txBody>
      </p:sp>
      <p:sp>
        <p:nvSpPr>
          <p:cNvPr id="7" name="TextBox 6"/>
          <p:cNvSpPr txBox="1"/>
          <p:nvPr/>
        </p:nvSpPr>
        <p:spPr>
          <a:xfrm>
            <a:off x="5212080" y="4069080"/>
            <a:ext cx="1645920" cy="365760"/>
          </a:xfrm>
          <a:prstGeom prst="rect">
            <a:avLst/>
          </a:prstGeom>
          <a:noFill/>
        </p:spPr>
        <p:txBody>
          <a:bodyPr wrap="square">
            <a:spAutoFit/>
          </a:bodyPr>
          <a:lstStyle/>
          <a:p>
            <a:pPr algn="ctr">
              <a:defRPr sz="1100" b="0">
                <a:solidFill>
                  <a:srgbClr val="6B7080"/>
                </a:solidFill>
                <a:latin typeface="Arial"/>
              </a:defRPr>
            </a:pPr>
            <a:r>
              <a:t>qualified leads / day</a:t>
            </a:r>
          </a:p>
        </p:txBody>
      </p:sp>
      <p:sp>
        <p:nvSpPr>
          <p:cNvPr id="8" name="TextBox 7"/>
          <p:cNvSpPr txBox="1"/>
          <p:nvPr/>
        </p:nvSpPr>
        <p:spPr>
          <a:xfrm>
            <a:off x="7498079" y="3566160"/>
            <a:ext cx="1645920" cy="548640"/>
          </a:xfrm>
          <a:prstGeom prst="rect">
            <a:avLst/>
          </a:prstGeom>
          <a:noFill/>
        </p:spPr>
        <p:txBody>
          <a:bodyPr wrap="square">
            <a:spAutoFit/>
          </a:bodyPr>
          <a:lstStyle/>
          <a:p>
            <a:pPr algn="ctr">
              <a:defRPr sz="3600" b="1">
                <a:solidFill>
                  <a:srgbClr val="C9A84C"/>
                </a:solidFill>
                <a:latin typeface="Arial"/>
              </a:defRPr>
            </a:pPr>
            <a:r>
              <a:t>2</a:t>
            </a:r>
          </a:p>
        </p:txBody>
      </p:sp>
      <p:sp>
        <p:nvSpPr>
          <p:cNvPr id="9" name="TextBox 8"/>
          <p:cNvSpPr txBox="1"/>
          <p:nvPr/>
        </p:nvSpPr>
        <p:spPr>
          <a:xfrm>
            <a:off x="7498079" y="4069080"/>
            <a:ext cx="1645920" cy="365760"/>
          </a:xfrm>
          <a:prstGeom prst="rect">
            <a:avLst/>
          </a:prstGeom>
          <a:noFill/>
        </p:spPr>
        <p:txBody>
          <a:bodyPr wrap="square">
            <a:spAutoFit/>
          </a:bodyPr>
          <a:lstStyle/>
          <a:p>
            <a:pPr algn="ctr">
              <a:defRPr sz="1100" b="0">
                <a:solidFill>
                  <a:srgbClr val="6B7080"/>
                </a:solidFill>
                <a:latin typeface="Arial"/>
              </a:defRPr>
            </a:pPr>
            <a:r>
              <a:t>revenue pipelines</a:t>
            </a:r>
          </a:p>
        </p:txBody>
      </p:sp>
      <p:sp>
        <p:nvSpPr>
          <p:cNvPr id="10" name="TextBox 9"/>
          <p:cNvSpPr txBox="1"/>
          <p:nvPr/>
        </p:nvSpPr>
        <p:spPr>
          <a:xfrm>
            <a:off x="0" y="4937760"/>
            <a:ext cx="12191695" cy="365760"/>
          </a:xfrm>
          <a:prstGeom prst="rect">
            <a:avLst/>
          </a:prstGeom>
          <a:noFill/>
        </p:spPr>
        <p:txBody>
          <a:bodyPr wrap="square">
            <a:spAutoFit/>
          </a:bodyPr>
          <a:lstStyle/>
          <a:p>
            <a:pPr algn="ctr">
              <a:defRPr sz="1400" b="0">
                <a:solidFill>
                  <a:srgbClr val="6B7080"/>
                </a:solidFill>
                <a:latin typeface="Arial"/>
              </a:defRPr>
            </a:pPr>
            <a:r>
              <a:t>Partner Briefing ·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defRPr sz="3600" b="1">
                <a:solidFill>
                  <a:srgbClr val="FFFFFF"/>
                </a:solidFill>
                <a:latin typeface="Arial"/>
              </a:defRPr>
            </a:pPr>
            <a:r>
              <a:t>The Problem We Solve</a:t>
            </a:r>
          </a:p>
        </p:txBody>
      </p:sp>
      <p:sp>
        <p:nvSpPr>
          <p:cNvPr id="3" name="Rounded Rectangle 2"/>
          <p:cNvSpPr/>
          <p:nvPr/>
        </p:nvSpPr>
        <p:spPr>
          <a:xfrm>
            <a:off x="731520" y="1280160"/>
            <a:ext cx="5120640" cy="256032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4754879" cy="365760"/>
          </a:xfrm>
          <a:prstGeom prst="rect">
            <a:avLst/>
          </a:prstGeom>
          <a:noFill/>
        </p:spPr>
        <p:txBody>
          <a:bodyPr wrap="square">
            <a:spAutoFit/>
          </a:bodyPr>
          <a:lstStyle/>
          <a:p>
            <a:pPr algn="l">
              <a:defRPr sz="1800" b="1">
                <a:solidFill>
                  <a:srgbClr val="C9A84C"/>
                </a:solidFill>
                <a:latin typeface="Arial"/>
              </a:defRPr>
            </a:pPr>
            <a:r>
              <a:t>The Government's Side</a:t>
            </a:r>
          </a:p>
        </p:txBody>
      </p:sp>
      <p:sp>
        <p:nvSpPr>
          <p:cNvPr id="5" name="TextBox 4"/>
          <p:cNvSpPr txBox="1"/>
          <p:nvPr/>
        </p:nvSpPr>
        <p:spPr>
          <a:xfrm>
            <a:off x="914400" y="1737360"/>
            <a:ext cx="4754879" cy="2011679"/>
          </a:xfrm>
          <a:prstGeom prst="rect">
            <a:avLst/>
          </a:prstGeom>
          <a:noFill/>
        </p:spPr>
        <p:txBody>
          <a:bodyPr wrap="square">
            <a:spAutoFit/>
          </a:bodyPr>
          <a:lstStyle/>
          <a:p>
            <a:pPr algn="l">
              <a:spcAft>
                <a:spcPts val="400"/>
              </a:spcAft>
              <a:defRPr sz="1300" b="0">
                <a:solidFill>
                  <a:srgbClr val="B0B4C0"/>
                </a:solidFill>
                <a:latin typeface="Arial"/>
              </a:defRPr>
            </a:pPr>
            <a:r>
              <a:t>• Federal agencies must award a share of contracts to small businesses</a:t>
            </a:r>
          </a:p>
          <a:p>
            <a:pPr>
              <a:spcAft>
                <a:spcPts val="400"/>
              </a:spcAft>
              <a:defRPr sz="1300">
                <a:solidFill>
                  <a:srgbClr val="B0B4C0"/>
                </a:solidFill>
                <a:latin typeface="Arial"/>
              </a:defRPr>
            </a:pPr>
            <a:r>
              <a:t>• They want to — but the process defeats most small contractors</a:t>
            </a:r>
          </a:p>
          <a:p>
            <a:pPr>
              <a:spcAft>
                <a:spcPts val="400"/>
              </a:spcAft>
              <a:defRPr sz="1300">
                <a:solidFill>
                  <a:srgbClr val="B0B4C0"/>
                </a:solidFill>
                <a:latin typeface="Arial"/>
              </a:defRPr>
            </a:pPr>
            <a:r>
              <a:t>• Registration, bonding, compliance, proposal writing, invoicing</a:t>
            </a:r>
          </a:p>
          <a:p>
            <a:pPr>
              <a:spcAft>
                <a:spcPts val="400"/>
              </a:spcAft>
              <a:defRPr sz="1300">
                <a:solidFill>
                  <a:srgbClr val="B0B4C0"/>
                </a:solidFill>
                <a:latin typeface="Arial"/>
              </a:defRPr>
            </a:pPr>
            <a:r>
              <a:t>• ~250 active SB construction set-asides this week alone</a:t>
            </a:r>
          </a:p>
        </p:txBody>
      </p:sp>
      <p:sp>
        <p:nvSpPr>
          <p:cNvPr id="6" name="Rounded Rectangle 5"/>
          <p:cNvSpPr/>
          <p:nvPr/>
        </p:nvSpPr>
        <p:spPr>
          <a:xfrm>
            <a:off x="6400800" y="1280160"/>
            <a:ext cx="5120640" cy="256032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371600"/>
            <a:ext cx="4754879" cy="365760"/>
          </a:xfrm>
          <a:prstGeom prst="rect">
            <a:avLst/>
          </a:prstGeom>
          <a:noFill/>
        </p:spPr>
        <p:txBody>
          <a:bodyPr wrap="square">
            <a:spAutoFit/>
          </a:bodyPr>
          <a:lstStyle/>
          <a:p>
            <a:pPr algn="l">
              <a:defRPr sz="1800" b="1">
                <a:solidFill>
                  <a:srgbClr val="C9A84C"/>
                </a:solidFill>
                <a:latin typeface="Arial"/>
              </a:defRPr>
            </a:pPr>
            <a:r>
              <a:t>The Small Business Side</a:t>
            </a:r>
          </a:p>
        </p:txBody>
      </p:sp>
      <p:sp>
        <p:nvSpPr>
          <p:cNvPr id="8" name="TextBox 7"/>
          <p:cNvSpPr txBox="1"/>
          <p:nvPr/>
        </p:nvSpPr>
        <p:spPr>
          <a:xfrm>
            <a:off x="6583680" y="1737360"/>
            <a:ext cx="4754879" cy="2011679"/>
          </a:xfrm>
          <a:prstGeom prst="rect">
            <a:avLst/>
          </a:prstGeom>
          <a:noFill/>
        </p:spPr>
        <p:txBody>
          <a:bodyPr wrap="square">
            <a:spAutoFit/>
          </a:bodyPr>
          <a:lstStyle/>
          <a:p>
            <a:pPr algn="l">
              <a:spcAft>
                <a:spcPts val="400"/>
              </a:spcAft>
              <a:defRPr sz="1300" b="0">
                <a:solidFill>
                  <a:srgbClr val="B0B4C0"/>
                </a:solidFill>
                <a:latin typeface="Arial"/>
              </a:defRPr>
            </a:pPr>
            <a:r>
              <a:t>• Most small contractors never bid — not because they can't do the work</a:t>
            </a:r>
          </a:p>
          <a:p>
            <a:pPr>
              <a:spcAft>
                <a:spcPts val="400"/>
              </a:spcAft>
              <a:defRPr sz="1300">
                <a:solidFill>
                  <a:srgbClr val="B0B4C0"/>
                </a:solidFill>
                <a:latin typeface="Arial"/>
              </a:defRPr>
            </a:pPr>
            <a:r>
              <a:t>• The paperwork is the real barrier</a:t>
            </a:r>
          </a:p>
          <a:p>
            <a:pPr>
              <a:spcAft>
                <a:spcPts val="400"/>
              </a:spcAft>
              <a:defRPr sz="1300">
                <a:solidFill>
                  <a:srgbClr val="B0B4C0"/>
                </a:solidFill>
                <a:latin typeface="Arial"/>
              </a:defRPr>
            </a:pPr>
            <a:r>
              <a:t>• $100K–$150K+ opportunities: big enough to build on</a:t>
            </a:r>
          </a:p>
          <a:p>
            <a:pPr>
              <a:spcAft>
                <a:spcPts val="400"/>
              </a:spcAft>
              <a:defRPr sz="1300">
                <a:solidFill>
                  <a:srgbClr val="B0B4C0"/>
                </a:solidFill>
                <a:latin typeface="Arial"/>
              </a:defRPr>
            </a:pPr>
            <a:r>
              <a:t>• Small enough that large players don't compete hard</a:t>
            </a:r>
          </a:p>
        </p:txBody>
      </p:sp>
      <p:sp>
        <p:nvSpPr>
          <p:cNvPr id="9" name="TextBox 8"/>
          <p:cNvSpPr txBox="1"/>
          <p:nvPr/>
        </p:nvSpPr>
        <p:spPr>
          <a:xfrm>
            <a:off x="731520" y="4572000"/>
            <a:ext cx="10972800" cy="548640"/>
          </a:xfrm>
          <a:prstGeom prst="rect">
            <a:avLst/>
          </a:prstGeom>
          <a:noFill/>
        </p:spPr>
        <p:txBody>
          <a:bodyPr wrap="square">
            <a:spAutoFit/>
          </a:bodyPr>
          <a:lstStyle/>
          <a:p>
            <a:pPr algn="ctr">
              <a:defRPr sz="2000" b="1">
                <a:solidFill>
                  <a:srgbClr val="C9A84C"/>
                </a:solidFill>
                <a:latin typeface="Arial"/>
              </a:defRPr>
            </a:pPr>
            <a:r>
              <a:t>We remove the process. Subs do what they're great at. We do what they're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defRPr sz="3600" b="1">
                <a:solidFill>
                  <a:srgbClr val="FFFFFF"/>
                </a:solidFill>
                <a:latin typeface="Arial"/>
              </a:defRPr>
            </a:pPr>
            <a:r>
              <a:t>How It Works — The Three Roles</a:t>
            </a:r>
          </a:p>
        </p:txBody>
      </p:sp>
      <p:sp>
        <p:nvSpPr>
          <p:cNvPr id="3" name="Rounded Rectangle 2"/>
          <p:cNvSpPr/>
          <p:nvPr/>
        </p:nvSpPr>
        <p:spPr>
          <a:xfrm>
            <a:off x="731520" y="1463040"/>
            <a:ext cx="3474720" cy="329184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2926080" cy="457200"/>
          </a:xfrm>
          <a:prstGeom prst="rect">
            <a:avLst/>
          </a:prstGeom>
          <a:noFill/>
        </p:spPr>
        <p:txBody>
          <a:bodyPr wrap="square">
            <a:spAutoFit/>
          </a:bodyPr>
          <a:lstStyle/>
          <a:p>
            <a:pPr algn="ctr">
              <a:defRPr sz="3600" b="0">
                <a:solidFill>
                  <a:srgbClr val="E4E6ED"/>
                </a:solidFill>
                <a:latin typeface="Arial"/>
              </a:defRPr>
            </a:pPr>
            <a:r>
              <a:t>🏛️</a:t>
            </a:r>
          </a:p>
        </p:txBody>
      </p:sp>
      <p:sp>
        <p:nvSpPr>
          <p:cNvPr id="5" name="TextBox 4"/>
          <p:cNvSpPr txBox="1"/>
          <p:nvPr/>
        </p:nvSpPr>
        <p:spPr>
          <a:xfrm>
            <a:off x="1005840" y="2194560"/>
            <a:ext cx="2926080" cy="457200"/>
          </a:xfrm>
          <a:prstGeom prst="rect">
            <a:avLst/>
          </a:prstGeom>
          <a:noFill/>
        </p:spPr>
        <p:txBody>
          <a:bodyPr wrap="square">
            <a:spAutoFit/>
          </a:bodyPr>
          <a:lstStyle/>
          <a:p>
            <a:pPr algn="ctr">
              <a:defRPr sz="2000" b="1">
                <a:solidFill>
                  <a:srgbClr val="C9A84C"/>
                </a:solidFill>
                <a:latin typeface="Arial"/>
              </a:defRPr>
            </a:pPr>
            <a:r>
              <a:t>We (The Prime)</a:t>
            </a:r>
          </a:p>
        </p:txBody>
      </p:sp>
      <p:sp>
        <p:nvSpPr>
          <p:cNvPr id="6" name="TextBox 5"/>
          <p:cNvSpPr txBox="1"/>
          <p:nvPr/>
        </p:nvSpPr>
        <p:spPr>
          <a:xfrm>
            <a:off x="1005840" y="2743200"/>
            <a:ext cx="2926080" cy="1828800"/>
          </a:xfrm>
          <a:prstGeom prst="rect">
            <a:avLst/>
          </a:prstGeom>
          <a:noFill/>
        </p:spPr>
        <p:txBody>
          <a:bodyPr wrap="square">
            <a:spAutoFit/>
          </a:bodyPr>
          <a:lstStyle/>
          <a:p>
            <a:pPr algn="ctr">
              <a:defRPr sz="1300" b="0">
                <a:solidFill>
                  <a:srgbClr val="B0B4C0"/>
                </a:solidFill>
                <a:latin typeface="Arial"/>
              </a:defRPr>
            </a:pPr>
            <a:r>
              <a:t>Hold the contract. Face the agency.</a:t>
            </a:r>
            <a:br/>
            <a:r>
              <a:t>Own the compliance and paperwork.</a:t>
            </a:r>
            <a:br/>
            <a:r>
              <a:t>Manage to completion.</a:t>
            </a:r>
          </a:p>
        </p:txBody>
      </p:sp>
      <p:sp>
        <p:nvSpPr>
          <p:cNvPr id="7" name="Rounded Rectangle 6"/>
          <p:cNvSpPr/>
          <p:nvPr/>
        </p:nvSpPr>
        <p:spPr>
          <a:xfrm>
            <a:off x="4572000" y="1463040"/>
            <a:ext cx="3474720" cy="329184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0" y="1645920"/>
            <a:ext cx="2926080" cy="457200"/>
          </a:xfrm>
          <a:prstGeom prst="rect">
            <a:avLst/>
          </a:prstGeom>
          <a:noFill/>
        </p:spPr>
        <p:txBody>
          <a:bodyPr wrap="square">
            <a:spAutoFit/>
          </a:bodyPr>
          <a:lstStyle/>
          <a:p>
            <a:pPr algn="ctr">
              <a:defRPr sz="3600" b="0">
                <a:solidFill>
                  <a:srgbClr val="E4E6ED"/>
                </a:solidFill>
                <a:latin typeface="Arial"/>
              </a:defRPr>
            </a:pPr>
            <a:r>
              <a:t>🔧</a:t>
            </a:r>
          </a:p>
        </p:txBody>
      </p:sp>
      <p:sp>
        <p:nvSpPr>
          <p:cNvPr id="9" name="TextBox 8"/>
          <p:cNvSpPr txBox="1"/>
          <p:nvPr/>
        </p:nvSpPr>
        <p:spPr>
          <a:xfrm>
            <a:off x="4846320" y="2194560"/>
            <a:ext cx="2926080" cy="457200"/>
          </a:xfrm>
          <a:prstGeom prst="rect">
            <a:avLst/>
          </a:prstGeom>
          <a:noFill/>
        </p:spPr>
        <p:txBody>
          <a:bodyPr wrap="square">
            <a:spAutoFit/>
          </a:bodyPr>
          <a:lstStyle/>
          <a:p>
            <a:pPr algn="ctr">
              <a:defRPr sz="2000" b="1">
                <a:solidFill>
                  <a:srgbClr val="C9A84C"/>
                </a:solidFill>
                <a:latin typeface="Arial"/>
              </a:defRPr>
            </a:pPr>
            <a:r>
              <a:t>Subcontractors</a:t>
            </a:r>
          </a:p>
        </p:txBody>
      </p:sp>
      <p:sp>
        <p:nvSpPr>
          <p:cNvPr id="10" name="TextBox 9"/>
          <p:cNvSpPr txBox="1"/>
          <p:nvPr/>
        </p:nvSpPr>
        <p:spPr>
          <a:xfrm>
            <a:off x="4846320" y="2743200"/>
            <a:ext cx="2926080" cy="1828800"/>
          </a:xfrm>
          <a:prstGeom prst="rect">
            <a:avLst/>
          </a:prstGeom>
          <a:noFill/>
        </p:spPr>
        <p:txBody>
          <a:bodyPr wrap="square">
            <a:spAutoFit/>
          </a:bodyPr>
          <a:lstStyle/>
          <a:p>
            <a:pPr algn="ctr">
              <a:defRPr sz="1300" b="0">
                <a:solidFill>
                  <a:srgbClr val="B0B4C0"/>
                </a:solidFill>
                <a:latin typeface="Arial"/>
              </a:defRPr>
            </a:pPr>
            <a:r>
              <a:t>Skilled trades who perform the work —</a:t>
            </a:r>
            <a:br/>
            <a:r>
              <a:t>HVAC, electrical, plumbing, roofing,</a:t>
            </a:r>
            <a:br/>
            <a:r>
              <a:t>janitorial, landscaping. Vetted once.</a:t>
            </a:r>
          </a:p>
        </p:txBody>
      </p:sp>
      <p:sp>
        <p:nvSpPr>
          <p:cNvPr id="11" name="Rounded Rectangle 10"/>
          <p:cNvSpPr/>
          <p:nvPr/>
        </p:nvSpPr>
        <p:spPr>
          <a:xfrm>
            <a:off x="8412480" y="1463040"/>
            <a:ext cx="3474720" cy="329184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0" y="1645920"/>
            <a:ext cx="2926080" cy="457200"/>
          </a:xfrm>
          <a:prstGeom prst="rect">
            <a:avLst/>
          </a:prstGeom>
          <a:noFill/>
        </p:spPr>
        <p:txBody>
          <a:bodyPr wrap="square">
            <a:spAutoFit/>
          </a:bodyPr>
          <a:lstStyle/>
          <a:p>
            <a:pPr algn="ctr">
              <a:defRPr sz="3600" b="0">
                <a:solidFill>
                  <a:srgbClr val="E4E6ED"/>
                </a:solidFill>
                <a:latin typeface="Arial"/>
              </a:defRPr>
            </a:pPr>
            <a:r>
              <a:t>⚙️</a:t>
            </a:r>
          </a:p>
        </p:txBody>
      </p:sp>
      <p:sp>
        <p:nvSpPr>
          <p:cNvPr id="13" name="TextBox 12"/>
          <p:cNvSpPr txBox="1"/>
          <p:nvPr/>
        </p:nvSpPr>
        <p:spPr>
          <a:xfrm>
            <a:off x="8686800" y="2194560"/>
            <a:ext cx="2926080" cy="457200"/>
          </a:xfrm>
          <a:prstGeom prst="rect">
            <a:avLst/>
          </a:prstGeom>
          <a:noFill/>
        </p:spPr>
        <p:txBody>
          <a:bodyPr wrap="square">
            <a:spAutoFit/>
          </a:bodyPr>
          <a:lstStyle/>
          <a:p>
            <a:pPr algn="ctr">
              <a:defRPr sz="2000" b="1">
                <a:solidFill>
                  <a:srgbClr val="C9A84C"/>
                </a:solidFill>
                <a:latin typeface="Arial"/>
              </a:defRPr>
            </a:pPr>
            <a:r>
              <a:t>The Engine</a:t>
            </a:r>
          </a:p>
        </p:txBody>
      </p:sp>
      <p:sp>
        <p:nvSpPr>
          <p:cNvPr id="14" name="TextBox 13"/>
          <p:cNvSpPr txBox="1"/>
          <p:nvPr/>
        </p:nvSpPr>
        <p:spPr>
          <a:xfrm>
            <a:off x="8686800" y="2743200"/>
            <a:ext cx="2926080" cy="1828800"/>
          </a:xfrm>
          <a:prstGeom prst="rect">
            <a:avLst/>
          </a:prstGeom>
          <a:noFill/>
        </p:spPr>
        <p:txBody>
          <a:bodyPr wrap="square">
            <a:spAutoFit/>
          </a:bodyPr>
          <a:lstStyle/>
          <a:p>
            <a:pPr algn="ctr">
              <a:defRPr sz="1300" b="0">
                <a:solidFill>
                  <a:srgbClr val="B0B4C0"/>
                </a:solidFill>
                <a:latin typeface="Arial"/>
              </a:defRPr>
            </a:pPr>
            <a:r>
              <a:t>Software that finds opportunities, reads</a:t>
            </a:r>
            <a:br/>
            <a:r>
              <a:t>them, matches subs, collects pricing,</a:t>
            </a:r>
            <a:br/>
            <a:r>
              <a:t>drafts responses, and tracks contracts.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defRPr sz="3600" b="1">
                <a:solidFill>
                  <a:srgbClr val="FFFFFF"/>
                </a:solidFill>
                <a:latin typeface="Arial"/>
              </a:defRPr>
            </a:pPr>
            <a:r>
              <a:t>The Engine — Six Steps</a:t>
            </a:r>
          </a:p>
        </p:txBody>
      </p:sp>
      <p:sp>
        <p:nvSpPr>
          <p:cNvPr id="3" name="Rounded Rectangle 2"/>
          <p:cNvSpPr/>
          <p:nvPr/>
        </p:nvSpPr>
        <p:spPr>
          <a:xfrm>
            <a:off x="365760" y="1463040"/>
            <a:ext cx="1783080" cy="219456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0"/>
            <a:ext cx="1508760" cy="457200"/>
          </a:xfrm>
          <a:prstGeom prst="rect">
            <a:avLst/>
          </a:prstGeom>
          <a:noFill/>
        </p:spPr>
        <p:txBody>
          <a:bodyPr wrap="square">
            <a:spAutoFit/>
          </a:bodyPr>
          <a:lstStyle/>
          <a:p>
            <a:pPr algn="ctr">
              <a:defRPr sz="1800" b="1">
                <a:solidFill>
                  <a:srgbClr val="C9A84C"/>
                </a:solidFill>
                <a:latin typeface="Arial"/>
              </a:defRPr>
            </a:pPr>
            <a:r>
              <a:t>1. Find</a:t>
            </a:r>
          </a:p>
        </p:txBody>
      </p:sp>
      <p:sp>
        <p:nvSpPr>
          <p:cNvPr id="5" name="TextBox 4"/>
          <p:cNvSpPr txBox="1"/>
          <p:nvPr/>
        </p:nvSpPr>
        <p:spPr>
          <a:xfrm>
            <a:off x="502920" y="2194560"/>
            <a:ext cx="1508760" cy="1097280"/>
          </a:xfrm>
          <a:prstGeom prst="rect">
            <a:avLst/>
          </a:prstGeom>
          <a:noFill/>
        </p:spPr>
        <p:txBody>
          <a:bodyPr wrap="square">
            <a:spAutoFit/>
          </a:bodyPr>
          <a:lstStyle/>
          <a:p>
            <a:pPr algn="ctr">
              <a:defRPr sz="1200" b="0">
                <a:solidFill>
                  <a:srgbClr val="B0B4C0"/>
                </a:solidFill>
                <a:latin typeface="Arial"/>
              </a:defRPr>
            </a:pPr>
            <a:r>
              <a:t>Scan federal portals</a:t>
            </a:r>
            <a:br/>
            <a:r>
              <a:t>daily</a:t>
            </a:r>
          </a:p>
        </p:txBody>
      </p:sp>
      <p:sp>
        <p:nvSpPr>
          <p:cNvPr id="6" name="TextBox 5"/>
          <p:cNvSpPr txBox="1"/>
          <p:nvPr/>
        </p:nvSpPr>
        <p:spPr>
          <a:xfrm>
            <a:off x="2148840" y="2286000"/>
            <a:ext cx="182880" cy="365760"/>
          </a:xfrm>
          <a:prstGeom prst="rect">
            <a:avLst/>
          </a:prstGeom>
          <a:noFill/>
        </p:spPr>
        <p:txBody>
          <a:bodyPr wrap="square">
            <a:spAutoFit/>
          </a:bodyPr>
          <a:lstStyle/>
          <a:p>
            <a:pPr algn="l">
              <a:defRPr sz="2400" b="1">
                <a:solidFill>
                  <a:srgbClr val="C9A84C"/>
                </a:solidFill>
                <a:latin typeface="Arial"/>
              </a:defRPr>
            </a:pPr>
            <a:r>
              <a:t>→</a:t>
            </a:r>
          </a:p>
        </p:txBody>
      </p:sp>
      <p:sp>
        <p:nvSpPr>
          <p:cNvPr id="7" name="Rounded Rectangle 6"/>
          <p:cNvSpPr/>
          <p:nvPr/>
        </p:nvSpPr>
        <p:spPr>
          <a:xfrm>
            <a:off x="2331720" y="1463040"/>
            <a:ext cx="1783080" cy="219456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79" y="1645920"/>
            <a:ext cx="1508760" cy="457200"/>
          </a:xfrm>
          <a:prstGeom prst="rect">
            <a:avLst/>
          </a:prstGeom>
          <a:noFill/>
        </p:spPr>
        <p:txBody>
          <a:bodyPr wrap="square">
            <a:spAutoFit/>
          </a:bodyPr>
          <a:lstStyle/>
          <a:p>
            <a:pPr algn="ctr">
              <a:defRPr sz="1800" b="1">
                <a:solidFill>
                  <a:srgbClr val="C9A84C"/>
                </a:solidFill>
                <a:latin typeface="Arial"/>
              </a:defRPr>
            </a:pPr>
            <a:r>
              <a:t>2. Read</a:t>
            </a:r>
          </a:p>
        </p:txBody>
      </p:sp>
      <p:sp>
        <p:nvSpPr>
          <p:cNvPr id="9" name="TextBox 8"/>
          <p:cNvSpPr txBox="1"/>
          <p:nvPr/>
        </p:nvSpPr>
        <p:spPr>
          <a:xfrm>
            <a:off x="2468879" y="2194560"/>
            <a:ext cx="1508760" cy="1097280"/>
          </a:xfrm>
          <a:prstGeom prst="rect">
            <a:avLst/>
          </a:prstGeom>
          <a:noFill/>
        </p:spPr>
        <p:txBody>
          <a:bodyPr wrap="square">
            <a:spAutoFit/>
          </a:bodyPr>
          <a:lstStyle/>
          <a:p>
            <a:pPr algn="ctr">
              <a:defRPr sz="1200" b="0">
                <a:solidFill>
                  <a:srgbClr val="B0B4C0"/>
                </a:solidFill>
                <a:latin typeface="Arial"/>
              </a:defRPr>
            </a:pPr>
            <a:r>
              <a:t>AI reads &amp; summarizes</a:t>
            </a:r>
            <a:br/>
            <a:r>
              <a:t>each posting</a:t>
            </a:r>
          </a:p>
        </p:txBody>
      </p:sp>
      <p:sp>
        <p:nvSpPr>
          <p:cNvPr id="10" name="TextBox 9"/>
          <p:cNvSpPr txBox="1"/>
          <p:nvPr/>
        </p:nvSpPr>
        <p:spPr>
          <a:xfrm>
            <a:off x="4114800" y="2286000"/>
            <a:ext cx="182880" cy="365760"/>
          </a:xfrm>
          <a:prstGeom prst="rect">
            <a:avLst/>
          </a:prstGeom>
          <a:noFill/>
        </p:spPr>
        <p:txBody>
          <a:bodyPr wrap="square">
            <a:spAutoFit/>
          </a:bodyPr>
          <a:lstStyle/>
          <a:p>
            <a:pPr algn="l">
              <a:defRPr sz="2400" b="1">
                <a:solidFill>
                  <a:srgbClr val="C9A84C"/>
                </a:solidFill>
                <a:latin typeface="Arial"/>
              </a:defRPr>
            </a:pPr>
            <a:r>
              <a:t>→</a:t>
            </a:r>
          </a:p>
        </p:txBody>
      </p:sp>
      <p:sp>
        <p:nvSpPr>
          <p:cNvPr id="11" name="Rounded Rectangle 10"/>
          <p:cNvSpPr/>
          <p:nvPr/>
        </p:nvSpPr>
        <p:spPr>
          <a:xfrm>
            <a:off x="4297680" y="1463040"/>
            <a:ext cx="1783080" cy="219456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645920"/>
            <a:ext cx="1508760" cy="457200"/>
          </a:xfrm>
          <a:prstGeom prst="rect">
            <a:avLst/>
          </a:prstGeom>
          <a:noFill/>
        </p:spPr>
        <p:txBody>
          <a:bodyPr wrap="square">
            <a:spAutoFit/>
          </a:bodyPr>
          <a:lstStyle/>
          <a:p>
            <a:pPr algn="ctr">
              <a:defRPr sz="1800" b="1">
                <a:solidFill>
                  <a:srgbClr val="C9A84C"/>
                </a:solidFill>
                <a:latin typeface="Arial"/>
              </a:defRPr>
            </a:pPr>
            <a:r>
              <a:t>3. Match</a:t>
            </a:r>
          </a:p>
        </p:txBody>
      </p:sp>
      <p:sp>
        <p:nvSpPr>
          <p:cNvPr id="13" name="TextBox 12"/>
          <p:cNvSpPr txBox="1"/>
          <p:nvPr/>
        </p:nvSpPr>
        <p:spPr>
          <a:xfrm>
            <a:off x="4434840" y="2194560"/>
            <a:ext cx="1508760" cy="1097280"/>
          </a:xfrm>
          <a:prstGeom prst="rect">
            <a:avLst/>
          </a:prstGeom>
          <a:noFill/>
        </p:spPr>
        <p:txBody>
          <a:bodyPr wrap="square">
            <a:spAutoFit/>
          </a:bodyPr>
          <a:lstStyle/>
          <a:p>
            <a:pPr algn="ctr">
              <a:defRPr sz="1200" b="0">
                <a:solidFill>
                  <a:srgbClr val="B0B4C0"/>
                </a:solidFill>
                <a:latin typeface="Arial"/>
              </a:defRPr>
            </a:pPr>
            <a:r>
              <a:t>Match to vetted subs</a:t>
            </a:r>
            <a:br/>
            <a:r>
              <a:t>by trade &amp; location</a:t>
            </a:r>
          </a:p>
        </p:txBody>
      </p:sp>
      <p:sp>
        <p:nvSpPr>
          <p:cNvPr id="14" name="TextBox 13"/>
          <p:cNvSpPr txBox="1"/>
          <p:nvPr/>
        </p:nvSpPr>
        <p:spPr>
          <a:xfrm>
            <a:off x="6080760" y="2286000"/>
            <a:ext cx="182880" cy="365760"/>
          </a:xfrm>
          <a:prstGeom prst="rect">
            <a:avLst/>
          </a:prstGeom>
          <a:noFill/>
        </p:spPr>
        <p:txBody>
          <a:bodyPr wrap="square">
            <a:spAutoFit/>
          </a:bodyPr>
          <a:lstStyle/>
          <a:p>
            <a:pPr algn="l">
              <a:defRPr sz="2400" b="1">
                <a:solidFill>
                  <a:srgbClr val="C9A84C"/>
                </a:solidFill>
                <a:latin typeface="Arial"/>
              </a:defRPr>
            </a:pPr>
            <a:r>
              <a:t>→</a:t>
            </a:r>
          </a:p>
        </p:txBody>
      </p:sp>
      <p:sp>
        <p:nvSpPr>
          <p:cNvPr id="15" name="Rounded Rectangle 14"/>
          <p:cNvSpPr/>
          <p:nvPr/>
        </p:nvSpPr>
        <p:spPr>
          <a:xfrm>
            <a:off x="6263640" y="1463040"/>
            <a:ext cx="1783080" cy="219456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645920"/>
            <a:ext cx="1508760" cy="457200"/>
          </a:xfrm>
          <a:prstGeom prst="rect">
            <a:avLst/>
          </a:prstGeom>
          <a:noFill/>
        </p:spPr>
        <p:txBody>
          <a:bodyPr wrap="square">
            <a:spAutoFit/>
          </a:bodyPr>
          <a:lstStyle/>
          <a:p>
            <a:pPr algn="ctr">
              <a:defRPr sz="1800" b="1">
                <a:solidFill>
                  <a:srgbClr val="C9A84C"/>
                </a:solidFill>
                <a:latin typeface="Arial"/>
              </a:defRPr>
            </a:pPr>
            <a:r>
              <a:t>4. Price</a:t>
            </a:r>
          </a:p>
        </p:txBody>
      </p:sp>
      <p:sp>
        <p:nvSpPr>
          <p:cNvPr id="17" name="TextBox 16"/>
          <p:cNvSpPr txBox="1"/>
          <p:nvPr/>
        </p:nvSpPr>
        <p:spPr>
          <a:xfrm>
            <a:off x="6400800" y="2194560"/>
            <a:ext cx="1508760" cy="1097280"/>
          </a:xfrm>
          <a:prstGeom prst="rect">
            <a:avLst/>
          </a:prstGeom>
          <a:noFill/>
        </p:spPr>
        <p:txBody>
          <a:bodyPr wrap="square">
            <a:spAutoFit/>
          </a:bodyPr>
          <a:lstStyle/>
          <a:p>
            <a:pPr algn="ctr">
              <a:defRPr sz="1200" b="0">
                <a:solidFill>
                  <a:srgbClr val="B0B4C0"/>
                </a:solidFill>
                <a:latin typeface="Arial"/>
              </a:defRPr>
            </a:pPr>
            <a:r>
              <a:t>Subs send back</a:t>
            </a:r>
            <a:br/>
            <a:r>
              <a:t>a number. No jargon.</a:t>
            </a:r>
          </a:p>
        </p:txBody>
      </p:sp>
      <p:sp>
        <p:nvSpPr>
          <p:cNvPr id="18" name="TextBox 17"/>
          <p:cNvSpPr txBox="1"/>
          <p:nvPr/>
        </p:nvSpPr>
        <p:spPr>
          <a:xfrm>
            <a:off x="8046719" y="2286000"/>
            <a:ext cx="182880" cy="365760"/>
          </a:xfrm>
          <a:prstGeom prst="rect">
            <a:avLst/>
          </a:prstGeom>
          <a:noFill/>
        </p:spPr>
        <p:txBody>
          <a:bodyPr wrap="square">
            <a:spAutoFit/>
          </a:bodyPr>
          <a:lstStyle/>
          <a:p>
            <a:pPr algn="l">
              <a:defRPr sz="2400" b="1">
                <a:solidFill>
                  <a:srgbClr val="C9A84C"/>
                </a:solidFill>
                <a:latin typeface="Arial"/>
              </a:defRPr>
            </a:pPr>
            <a:r>
              <a:t>→</a:t>
            </a:r>
          </a:p>
        </p:txBody>
      </p:sp>
      <p:sp>
        <p:nvSpPr>
          <p:cNvPr id="19" name="Rounded Rectangle 18"/>
          <p:cNvSpPr/>
          <p:nvPr/>
        </p:nvSpPr>
        <p:spPr>
          <a:xfrm>
            <a:off x="8229600" y="1463040"/>
            <a:ext cx="1783080" cy="219456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1645920"/>
            <a:ext cx="1508760" cy="457200"/>
          </a:xfrm>
          <a:prstGeom prst="rect">
            <a:avLst/>
          </a:prstGeom>
          <a:noFill/>
        </p:spPr>
        <p:txBody>
          <a:bodyPr wrap="square">
            <a:spAutoFit/>
          </a:bodyPr>
          <a:lstStyle/>
          <a:p>
            <a:pPr algn="ctr">
              <a:defRPr sz="1800" b="1">
                <a:solidFill>
                  <a:srgbClr val="C9A84C"/>
                </a:solidFill>
                <a:latin typeface="Arial"/>
              </a:defRPr>
            </a:pPr>
            <a:r>
              <a:t>5. Respond</a:t>
            </a:r>
          </a:p>
        </p:txBody>
      </p:sp>
      <p:sp>
        <p:nvSpPr>
          <p:cNvPr id="21" name="TextBox 20"/>
          <p:cNvSpPr txBox="1"/>
          <p:nvPr/>
        </p:nvSpPr>
        <p:spPr>
          <a:xfrm>
            <a:off x="8366760" y="2194560"/>
            <a:ext cx="1508760" cy="1097280"/>
          </a:xfrm>
          <a:prstGeom prst="rect">
            <a:avLst/>
          </a:prstGeom>
          <a:noFill/>
        </p:spPr>
        <p:txBody>
          <a:bodyPr wrap="square">
            <a:spAutoFit/>
          </a:bodyPr>
          <a:lstStyle/>
          <a:p>
            <a:pPr algn="ctr">
              <a:defRPr sz="1200" b="0">
                <a:solidFill>
                  <a:srgbClr val="B0B4C0"/>
                </a:solidFill>
                <a:latin typeface="Arial"/>
              </a:defRPr>
            </a:pPr>
            <a:r>
              <a:t>AI drafts proposal.</a:t>
            </a:r>
            <a:br/>
            <a:r>
              <a:t>We review &amp; submit.</a:t>
            </a:r>
          </a:p>
        </p:txBody>
      </p:sp>
      <p:sp>
        <p:nvSpPr>
          <p:cNvPr id="22" name="TextBox 21"/>
          <p:cNvSpPr txBox="1"/>
          <p:nvPr/>
        </p:nvSpPr>
        <p:spPr>
          <a:xfrm>
            <a:off x="10012680" y="2286000"/>
            <a:ext cx="182880" cy="365760"/>
          </a:xfrm>
          <a:prstGeom prst="rect">
            <a:avLst/>
          </a:prstGeom>
          <a:noFill/>
        </p:spPr>
        <p:txBody>
          <a:bodyPr wrap="square">
            <a:spAutoFit/>
          </a:bodyPr>
          <a:lstStyle/>
          <a:p>
            <a:pPr algn="l">
              <a:defRPr sz="2400" b="1">
                <a:solidFill>
                  <a:srgbClr val="C9A84C"/>
                </a:solidFill>
                <a:latin typeface="Arial"/>
              </a:defRPr>
            </a:pPr>
            <a:r>
              <a:t>→</a:t>
            </a:r>
          </a:p>
        </p:txBody>
      </p:sp>
      <p:sp>
        <p:nvSpPr>
          <p:cNvPr id="23" name="Rounded Rectangle 22"/>
          <p:cNvSpPr/>
          <p:nvPr/>
        </p:nvSpPr>
        <p:spPr>
          <a:xfrm>
            <a:off x="10195560" y="1463040"/>
            <a:ext cx="1783080" cy="219456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0" y="1645920"/>
            <a:ext cx="1508760" cy="457200"/>
          </a:xfrm>
          <a:prstGeom prst="rect">
            <a:avLst/>
          </a:prstGeom>
          <a:noFill/>
        </p:spPr>
        <p:txBody>
          <a:bodyPr wrap="square">
            <a:spAutoFit/>
          </a:bodyPr>
          <a:lstStyle/>
          <a:p>
            <a:pPr algn="ctr">
              <a:defRPr sz="1800" b="1">
                <a:solidFill>
                  <a:srgbClr val="C9A84C"/>
                </a:solidFill>
                <a:latin typeface="Arial"/>
              </a:defRPr>
            </a:pPr>
            <a:r>
              <a:t>6. Manage</a:t>
            </a:r>
          </a:p>
        </p:txBody>
      </p:sp>
      <p:sp>
        <p:nvSpPr>
          <p:cNvPr id="25" name="TextBox 24"/>
          <p:cNvSpPr txBox="1"/>
          <p:nvPr/>
        </p:nvSpPr>
        <p:spPr>
          <a:xfrm>
            <a:off x="10332720" y="2194560"/>
            <a:ext cx="1508760" cy="1097280"/>
          </a:xfrm>
          <a:prstGeom prst="rect">
            <a:avLst/>
          </a:prstGeom>
          <a:noFill/>
        </p:spPr>
        <p:txBody>
          <a:bodyPr wrap="square">
            <a:spAutoFit/>
          </a:bodyPr>
          <a:lstStyle/>
          <a:p>
            <a:pPr algn="ctr">
              <a:defRPr sz="1200" b="0">
                <a:solidFill>
                  <a:srgbClr val="B0B4C0"/>
                </a:solidFill>
                <a:latin typeface="Arial"/>
              </a:defRPr>
            </a:pPr>
            <a:r>
              <a:t>Track milestones,</a:t>
            </a:r>
            <a:br/>
            <a:r>
              <a:t>approvals, payments.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defRPr sz="3600" b="1">
                <a:solidFill>
                  <a:srgbClr val="FFFFFF"/>
                </a:solidFill>
                <a:latin typeface="Arial"/>
              </a:defRPr>
            </a:pPr>
            <a:r>
              <a:t>Two Revenue Pipelines</a:t>
            </a:r>
          </a:p>
        </p:txBody>
      </p:sp>
      <p:sp>
        <p:nvSpPr>
          <p:cNvPr id="3" name="Rounded Rectangle 2"/>
          <p:cNvSpPr/>
          <p:nvPr/>
        </p:nvSpPr>
        <p:spPr>
          <a:xfrm>
            <a:off x="457200" y="1280160"/>
            <a:ext cx="5486400" cy="50292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20640" cy="365760"/>
          </a:xfrm>
          <a:prstGeom prst="rect">
            <a:avLst/>
          </a:prstGeom>
          <a:noFill/>
        </p:spPr>
        <p:txBody>
          <a:bodyPr wrap="square">
            <a:spAutoFit/>
          </a:bodyPr>
          <a:lstStyle/>
          <a:p>
            <a:pPr algn="l">
              <a:defRPr sz="1800" b="1">
                <a:solidFill>
                  <a:srgbClr val="C9A84C"/>
                </a:solidFill>
                <a:latin typeface="Arial"/>
              </a:defRPr>
            </a:pPr>
            <a:r>
              <a:t>Pipeline A — Bid as Prime  (SAM.gov)</a:t>
            </a:r>
          </a:p>
        </p:txBody>
      </p:sp>
      <p:sp>
        <p:nvSpPr>
          <p:cNvPr id="5" name="TextBox 4"/>
          <p:cNvSpPr txBox="1"/>
          <p:nvPr/>
        </p:nvSpPr>
        <p:spPr>
          <a:xfrm>
            <a:off x="640080" y="1737360"/>
            <a:ext cx="5120640" cy="4480560"/>
          </a:xfrm>
          <a:prstGeom prst="rect">
            <a:avLst/>
          </a:prstGeom>
          <a:noFill/>
        </p:spPr>
        <p:txBody>
          <a:bodyPr wrap="square">
            <a:spAutoFit/>
          </a:bodyPr>
          <a:lstStyle/>
          <a:p>
            <a:pPr algn="l">
              <a:spcAft>
                <a:spcPts val="400"/>
              </a:spcAft>
              <a:defRPr sz="1300" b="0">
                <a:solidFill>
                  <a:srgbClr val="B0B4C0"/>
                </a:solidFill>
                <a:latin typeface="Arial"/>
              </a:defRPr>
            </a:pPr>
            <a:r>
              <a:t>• Source: SAM.gov Databank (daily pull)</a:t>
            </a:r>
          </a:p>
          <a:p>
            <a:pPr>
              <a:spcAft>
                <a:spcPts val="400"/>
              </a:spcAft>
              <a:defRPr sz="1300">
                <a:solidFill>
                  <a:srgbClr val="B0B4C0"/>
                </a:solidFill>
                <a:latin typeface="Arial"/>
              </a:defRPr>
            </a:pPr>
            <a:r>
              <a:t>• Volume: ~46,000 active → ~1,400 qualified SB set-asides</a:t>
            </a:r>
          </a:p>
          <a:p>
            <a:pPr>
              <a:spcAft>
                <a:spcPts val="400"/>
              </a:spcAft>
              <a:defRPr sz="1300">
                <a:solidFill>
                  <a:srgbClr val="B0B4C0"/>
                </a:solidFill>
                <a:latin typeface="Arial"/>
              </a:defRPr>
            </a:pPr>
            <a:r>
              <a:t>• Filter: Construction, Facilities, IT · SB set-aside · ≥7 day deadline</a:t>
            </a:r>
          </a:p>
          <a:p>
            <a:pPr>
              <a:spcAft>
                <a:spcPts val="400"/>
              </a:spcAft>
              <a:defRPr sz="1300">
                <a:solidFill>
                  <a:srgbClr val="B0B4C0"/>
                </a:solidFill>
                <a:latin typeface="Arial"/>
              </a:defRPr>
            </a:pPr>
            <a:r>
              <a:t>• Output: Ranked bid opportunities with AI-extracted scope</a:t>
            </a:r>
          </a:p>
          <a:p>
            <a:pPr>
              <a:spcAft>
                <a:spcPts val="400"/>
              </a:spcAft>
              <a:defRPr sz="1300">
                <a:solidFill>
                  <a:srgbClr val="B0B4C0"/>
                </a:solidFill>
                <a:latin typeface="Arial"/>
              </a:defRPr>
            </a:pPr>
            <a:r>
              <a:t>• We win as prime, sub out the work to our network</a:t>
            </a:r>
          </a:p>
        </p:txBody>
      </p:sp>
      <p:sp>
        <p:nvSpPr>
          <p:cNvPr id="6" name="Rounded Rectangle 5"/>
          <p:cNvSpPr/>
          <p:nvPr/>
        </p:nvSpPr>
        <p:spPr>
          <a:xfrm>
            <a:off x="6309360" y="1280160"/>
            <a:ext cx="5486400" cy="50292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371600"/>
            <a:ext cx="5120640" cy="365760"/>
          </a:xfrm>
          <a:prstGeom prst="rect">
            <a:avLst/>
          </a:prstGeom>
          <a:noFill/>
        </p:spPr>
        <p:txBody>
          <a:bodyPr wrap="square">
            <a:spAutoFit/>
          </a:bodyPr>
          <a:lstStyle/>
          <a:p>
            <a:pPr algn="l">
              <a:defRPr sz="1800" b="1">
                <a:solidFill>
                  <a:srgbClr val="C9A84C"/>
                </a:solidFill>
                <a:latin typeface="Arial"/>
              </a:defRPr>
            </a:pPr>
            <a:r>
              <a:t>Pipeline B — Sub Under Primes  (USASpending.gov)</a:t>
            </a:r>
          </a:p>
        </p:txBody>
      </p:sp>
      <p:sp>
        <p:nvSpPr>
          <p:cNvPr id="8" name="TextBox 7"/>
          <p:cNvSpPr txBox="1"/>
          <p:nvPr/>
        </p:nvSpPr>
        <p:spPr>
          <a:xfrm>
            <a:off x="6492240" y="1737360"/>
            <a:ext cx="5120640" cy="4480560"/>
          </a:xfrm>
          <a:prstGeom prst="rect">
            <a:avLst/>
          </a:prstGeom>
          <a:noFill/>
        </p:spPr>
        <p:txBody>
          <a:bodyPr wrap="square">
            <a:spAutoFit/>
          </a:bodyPr>
          <a:lstStyle/>
          <a:p>
            <a:pPr algn="l">
              <a:spcAft>
                <a:spcPts val="400"/>
              </a:spcAft>
              <a:defRPr sz="1300" b="0">
                <a:solidFill>
                  <a:srgbClr val="B0B4C0"/>
                </a:solidFill>
                <a:latin typeface="Arial"/>
              </a:defRPr>
            </a:pPr>
            <a:r>
              <a:t>• Source: USASpending.gov (monthly sweep)</a:t>
            </a:r>
          </a:p>
          <a:p>
            <a:pPr>
              <a:spcAft>
                <a:spcPts val="400"/>
              </a:spcAft>
              <a:defRPr sz="1300">
                <a:solidFill>
                  <a:srgbClr val="B0B4C0"/>
                </a:solidFill>
                <a:latin typeface="Arial"/>
              </a:defRPr>
            </a:pPr>
            <a:r>
              <a:t>• Volume: ~136,000 IDV vehicles → ~2,000 active plan F/G holders</a:t>
            </a:r>
          </a:p>
          <a:p>
            <a:pPr>
              <a:spcAft>
                <a:spcPts val="400"/>
              </a:spcAft>
              <a:defRPr sz="1300">
                <a:solidFill>
                  <a:srgbClr val="B0B4C0"/>
                </a:solidFill>
                <a:latin typeface="Arial"/>
              </a:defRPr>
            </a:pPr>
            <a:r>
              <a:t>• Filter: Plan F/G · Active ordering · Construction/IT/Facilities NAICS</a:t>
            </a:r>
          </a:p>
          <a:p>
            <a:pPr>
              <a:spcAft>
                <a:spcPts val="400"/>
              </a:spcAft>
              <a:defRPr sz="1300">
                <a:solidFill>
                  <a:srgbClr val="B0B4C0"/>
                </a:solidFill>
                <a:latin typeface="Arial"/>
              </a:defRPr>
            </a:pPr>
            <a:r>
              <a:t>• Output: Ranked prime leads with vehicle data, pool membership</a:t>
            </a:r>
          </a:p>
          <a:p>
            <a:pPr>
              <a:spcAft>
                <a:spcPts val="400"/>
              </a:spcAft>
              <a:defRPr sz="1300">
                <a:solidFill>
                  <a:srgbClr val="B0B4C0"/>
                </a:solidFill>
                <a:latin typeface="Arial"/>
              </a:defRPr>
            </a:pPr>
            <a:r>
              <a:t>• We get on their roster, they win, we perform as sub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defRPr sz="3600" b="1">
                <a:solidFill>
                  <a:srgbClr val="FFFFFF"/>
                </a:solidFill>
                <a:latin typeface="Arial"/>
              </a:defRPr>
            </a:pPr>
            <a:r>
              <a:t>The Volume Challenge — Why Software</a:t>
            </a:r>
          </a:p>
        </p:txBody>
      </p:sp>
      <p:sp>
        <p:nvSpPr>
          <p:cNvPr id="3" name="TextBox 2"/>
          <p:cNvSpPr txBox="1"/>
          <p:nvPr/>
        </p:nvSpPr>
        <p:spPr>
          <a:xfrm>
            <a:off x="2286000" y="1371600"/>
            <a:ext cx="1645920" cy="548640"/>
          </a:xfrm>
          <a:prstGeom prst="rect">
            <a:avLst/>
          </a:prstGeom>
          <a:noFill/>
        </p:spPr>
        <p:txBody>
          <a:bodyPr wrap="square">
            <a:spAutoFit/>
          </a:bodyPr>
          <a:lstStyle/>
          <a:p>
            <a:pPr algn="ctr">
              <a:defRPr sz="3600" b="1">
                <a:solidFill>
                  <a:srgbClr val="C9A84C"/>
                </a:solidFill>
                <a:latin typeface="Arial"/>
              </a:defRPr>
            </a:pPr>
            <a:r>
              <a:t>2,000–4,000</a:t>
            </a:r>
          </a:p>
        </p:txBody>
      </p:sp>
      <p:sp>
        <p:nvSpPr>
          <p:cNvPr id="4" name="TextBox 3"/>
          <p:cNvSpPr txBox="1"/>
          <p:nvPr/>
        </p:nvSpPr>
        <p:spPr>
          <a:xfrm>
            <a:off x="2286000" y="1874519"/>
            <a:ext cx="1645920" cy="365760"/>
          </a:xfrm>
          <a:prstGeom prst="rect">
            <a:avLst/>
          </a:prstGeom>
          <a:noFill/>
        </p:spPr>
        <p:txBody>
          <a:bodyPr wrap="square">
            <a:spAutoFit/>
          </a:bodyPr>
          <a:lstStyle/>
          <a:p>
            <a:pPr algn="ctr">
              <a:defRPr sz="1100" b="0">
                <a:solidFill>
                  <a:srgbClr val="6B7080"/>
                </a:solidFill>
                <a:latin typeface="Arial"/>
              </a:defRPr>
            </a:pPr>
            <a:r>
              <a:t>raw solicitations posted daily</a:t>
            </a:r>
          </a:p>
        </p:txBody>
      </p:sp>
      <p:sp>
        <p:nvSpPr>
          <p:cNvPr id="5" name="TextBox 4"/>
          <p:cNvSpPr txBox="1"/>
          <p:nvPr/>
        </p:nvSpPr>
        <p:spPr>
          <a:xfrm>
            <a:off x="5029200" y="1371600"/>
            <a:ext cx="1645920" cy="548640"/>
          </a:xfrm>
          <a:prstGeom prst="rect">
            <a:avLst/>
          </a:prstGeom>
          <a:noFill/>
        </p:spPr>
        <p:txBody>
          <a:bodyPr wrap="square">
            <a:spAutoFit/>
          </a:bodyPr>
          <a:lstStyle/>
          <a:p>
            <a:pPr algn="ctr">
              <a:defRPr sz="3600" b="1">
                <a:solidFill>
                  <a:srgbClr val="C9A84C"/>
                </a:solidFill>
                <a:latin typeface="Arial"/>
              </a:defRPr>
            </a:pPr>
            <a:r>
              <a:t>~1,000</a:t>
            </a:r>
          </a:p>
        </p:txBody>
      </p:sp>
      <p:sp>
        <p:nvSpPr>
          <p:cNvPr id="6" name="TextBox 5"/>
          <p:cNvSpPr txBox="1"/>
          <p:nvPr/>
        </p:nvSpPr>
        <p:spPr>
          <a:xfrm>
            <a:off x="5029200" y="1874519"/>
            <a:ext cx="1645920" cy="365760"/>
          </a:xfrm>
          <a:prstGeom prst="rect">
            <a:avLst/>
          </a:prstGeom>
          <a:noFill/>
        </p:spPr>
        <p:txBody>
          <a:bodyPr wrap="square">
            <a:spAutoFit/>
          </a:bodyPr>
          <a:lstStyle/>
          <a:p>
            <a:pPr algn="ctr">
              <a:defRPr sz="1100" b="0">
                <a:solidFill>
                  <a:srgbClr val="6B7080"/>
                </a:solidFill>
                <a:latin typeface="Arial"/>
              </a:defRPr>
            </a:pPr>
            <a:r>
              <a:t>after SB set-aside filter</a:t>
            </a:r>
          </a:p>
        </p:txBody>
      </p:sp>
      <p:sp>
        <p:nvSpPr>
          <p:cNvPr id="7" name="TextBox 6"/>
          <p:cNvSpPr txBox="1"/>
          <p:nvPr/>
        </p:nvSpPr>
        <p:spPr>
          <a:xfrm>
            <a:off x="7772400" y="1371600"/>
            <a:ext cx="1645920" cy="548640"/>
          </a:xfrm>
          <a:prstGeom prst="rect">
            <a:avLst/>
          </a:prstGeom>
          <a:noFill/>
        </p:spPr>
        <p:txBody>
          <a:bodyPr wrap="square">
            <a:spAutoFit/>
          </a:bodyPr>
          <a:lstStyle/>
          <a:p>
            <a:pPr algn="ctr">
              <a:defRPr sz="3600" b="1">
                <a:solidFill>
                  <a:srgbClr val="C9A84C"/>
                </a:solidFill>
                <a:latin typeface="Arial"/>
              </a:defRPr>
            </a:pPr>
            <a:r>
              <a:t>~80</a:t>
            </a:r>
          </a:p>
        </p:txBody>
      </p:sp>
      <p:sp>
        <p:nvSpPr>
          <p:cNvPr id="8" name="TextBox 7"/>
          <p:cNvSpPr txBox="1"/>
          <p:nvPr/>
        </p:nvSpPr>
        <p:spPr>
          <a:xfrm>
            <a:off x="7772400" y="1874519"/>
            <a:ext cx="1645920" cy="365760"/>
          </a:xfrm>
          <a:prstGeom prst="rect">
            <a:avLst/>
          </a:prstGeom>
          <a:noFill/>
        </p:spPr>
        <p:txBody>
          <a:bodyPr wrap="square">
            <a:spAutoFit/>
          </a:bodyPr>
          <a:lstStyle/>
          <a:p>
            <a:pPr algn="ctr">
              <a:defRPr sz="1100" b="0">
                <a:solidFill>
                  <a:srgbClr val="6B7080"/>
                </a:solidFill>
                <a:latin typeface="Arial"/>
              </a:defRPr>
            </a:pPr>
            <a:r>
              <a:t>targeted triage/day (our NAICS)</a:t>
            </a:r>
          </a:p>
        </p:txBody>
      </p:sp>
      <p:sp>
        <p:nvSpPr>
          <p:cNvPr id="9" name="TextBox 8"/>
          <p:cNvSpPr txBox="1"/>
          <p:nvPr/>
        </p:nvSpPr>
        <p:spPr>
          <a:xfrm>
            <a:off x="731520" y="2560320"/>
            <a:ext cx="10972800" cy="457200"/>
          </a:xfrm>
          <a:prstGeom prst="rect">
            <a:avLst/>
          </a:prstGeom>
          <a:noFill/>
        </p:spPr>
        <p:txBody>
          <a:bodyPr wrap="square">
            <a:spAutoFit/>
          </a:bodyPr>
          <a:lstStyle/>
          <a:p>
            <a:pPr algn="ctr">
              <a:defRPr sz="1600" b="0">
                <a:solidFill>
                  <a:srgbClr val="B0B4C0"/>
                </a:solidFill>
                <a:latin typeface="Arial"/>
              </a:defRPr>
            </a:pPr>
            <a:r>
              <a:t>Triaging hundreds of opportunities per day manually is labor-intensive and costly.</a:t>
            </a:r>
          </a:p>
        </p:txBody>
      </p:sp>
      <p:sp>
        <p:nvSpPr>
          <p:cNvPr id="10" name="TextBox 9"/>
          <p:cNvSpPr txBox="1"/>
          <p:nvPr/>
        </p:nvSpPr>
        <p:spPr>
          <a:xfrm>
            <a:off x="731520" y="2926080"/>
            <a:ext cx="10972800" cy="457200"/>
          </a:xfrm>
          <a:prstGeom prst="rect">
            <a:avLst/>
          </a:prstGeom>
          <a:noFill/>
        </p:spPr>
        <p:txBody>
          <a:bodyPr wrap="square">
            <a:spAutoFit/>
          </a:bodyPr>
          <a:lstStyle/>
          <a:p>
            <a:pPr algn="ctr">
              <a:defRPr sz="1600" b="0">
                <a:solidFill>
                  <a:srgbClr val="C9A84C"/>
                </a:solidFill>
                <a:latin typeface="Arial"/>
              </a:defRPr>
            </a:pPr>
            <a:r>
              <a:t>Our system automates find + read + match — a human only touches qualified, matched opportunities.</a:t>
            </a:r>
          </a:p>
        </p:txBody>
      </p:sp>
      <p:sp>
        <p:nvSpPr>
          <p:cNvPr id="11" name="Rounded Rectangle 10"/>
          <p:cNvSpPr/>
          <p:nvPr/>
        </p:nvSpPr>
        <p:spPr>
          <a:xfrm>
            <a:off x="731520" y="3566160"/>
            <a:ext cx="10698480" cy="27432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657600"/>
            <a:ext cx="3291840" cy="365760"/>
          </a:xfrm>
          <a:prstGeom prst="rect">
            <a:avLst/>
          </a:prstGeom>
          <a:noFill/>
        </p:spPr>
        <p:txBody>
          <a:bodyPr wrap="square">
            <a:spAutoFit/>
          </a:bodyPr>
          <a:lstStyle/>
          <a:p>
            <a:pPr algn="l">
              <a:defRPr sz="1400" b="1">
                <a:solidFill>
                  <a:srgbClr val="6B7080"/>
                </a:solidFill>
                <a:latin typeface="Arial"/>
              </a:defRPr>
            </a:pPr>
          </a:p>
        </p:txBody>
      </p:sp>
      <p:sp>
        <p:nvSpPr>
          <p:cNvPr id="13" name="TextBox 12"/>
          <p:cNvSpPr txBox="1"/>
          <p:nvPr/>
        </p:nvSpPr>
        <p:spPr>
          <a:xfrm>
            <a:off x="4572000" y="3657600"/>
            <a:ext cx="3291840" cy="365760"/>
          </a:xfrm>
          <a:prstGeom prst="rect">
            <a:avLst/>
          </a:prstGeom>
          <a:noFill/>
        </p:spPr>
        <p:txBody>
          <a:bodyPr wrap="square">
            <a:spAutoFit/>
          </a:bodyPr>
          <a:lstStyle/>
          <a:p>
            <a:pPr algn="l">
              <a:defRPr sz="1400" b="1">
                <a:solidFill>
                  <a:srgbClr val="6B7080"/>
                </a:solidFill>
                <a:latin typeface="Arial"/>
              </a:defRPr>
            </a:pPr>
            <a:r>
              <a:t>Manual</a:t>
            </a:r>
          </a:p>
        </p:txBody>
      </p:sp>
      <p:sp>
        <p:nvSpPr>
          <p:cNvPr id="14" name="TextBox 13"/>
          <p:cNvSpPr txBox="1"/>
          <p:nvPr/>
        </p:nvSpPr>
        <p:spPr>
          <a:xfrm>
            <a:off x="8046719" y="3657600"/>
            <a:ext cx="3291840" cy="365760"/>
          </a:xfrm>
          <a:prstGeom prst="rect">
            <a:avLst/>
          </a:prstGeom>
          <a:noFill/>
        </p:spPr>
        <p:txBody>
          <a:bodyPr wrap="square">
            <a:spAutoFit/>
          </a:bodyPr>
          <a:lstStyle/>
          <a:p>
            <a:pPr algn="l">
              <a:defRPr sz="1400" b="1">
                <a:solidFill>
                  <a:srgbClr val="6B7080"/>
                </a:solidFill>
                <a:latin typeface="Arial"/>
              </a:defRPr>
            </a:pPr>
            <a:r>
              <a:t>With GovCon Engine</a:t>
            </a:r>
          </a:p>
        </p:txBody>
      </p:sp>
      <p:sp>
        <p:nvSpPr>
          <p:cNvPr id="15" name="TextBox 14"/>
          <p:cNvSpPr txBox="1"/>
          <p:nvPr/>
        </p:nvSpPr>
        <p:spPr>
          <a:xfrm>
            <a:off x="1097280" y="4114800"/>
            <a:ext cx="3291840" cy="365760"/>
          </a:xfrm>
          <a:prstGeom prst="rect">
            <a:avLst/>
          </a:prstGeom>
          <a:noFill/>
        </p:spPr>
        <p:txBody>
          <a:bodyPr wrap="square">
            <a:spAutoFit/>
          </a:bodyPr>
          <a:lstStyle/>
          <a:p>
            <a:pPr algn="l">
              <a:defRPr sz="1300" b="0">
                <a:solidFill>
                  <a:srgbClr val="B0B4C0"/>
                </a:solidFill>
                <a:latin typeface="Arial"/>
              </a:defRPr>
            </a:pPr>
            <a:r>
              <a:t>Find opportunities</a:t>
            </a:r>
          </a:p>
        </p:txBody>
      </p:sp>
      <p:sp>
        <p:nvSpPr>
          <p:cNvPr id="16" name="TextBox 15"/>
          <p:cNvSpPr txBox="1"/>
          <p:nvPr/>
        </p:nvSpPr>
        <p:spPr>
          <a:xfrm>
            <a:off x="4572000" y="4114800"/>
            <a:ext cx="3291840" cy="365760"/>
          </a:xfrm>
          <a:prstGeom prst="rect">
            <a:avLst/>
          </a:prstGeom>
          <a:noFill/>
        </p:spPr>
        <p:txBody>
          <a:bodyPr wrap="square">
            <a:spAutoFit/>
          </a:bodyPr>
          <a:lstStyle/>
          <a:p>
            <a:pPr algn="l">
              <a:defRPr sz="1300" b="0">
                <a:solidFill>
                  <a:srgbClr val="B0B4C0"/>
                </a:solidFill>
                <a:latin typeface="Arial"/>
              </a:defRPr>
            </a:pPr>
            <a:r>
              <a:t>Hours searching SAM.gov</a:t>
            </a:r>
          </a:p>
        </p:txBody>
      </p:sp>
      <p:sp>
        <p:nvSpPr>
          <p:cNvPr id="17" name="TextBox 16"/>
          <p:cNvSpPr txBox="1"/>
          <p:nvPr/>
        </p:nvSpPr>
        <p:spPr>
          <a:xfrm>
            <a:off x="8046719" y="4114800"/>
            <a:ext cx="3291840" cy="365760"/>
          </a:xfrm>
          <a:prstGeom prst="rect">
            <a:avLst/>
          </a:prstGeom>
          <a:noFill/>
        </p:spPr>
        <p:txBody>
          <a:bodyPr wrap="square">
            <a:spAutoFit/>
          </a:bodyPr>
          <a:lstStyle/>
          <a:p>
            <a:pPr algn="l">
              <a:defRPr sz="1300" b="0">
                <a:solidFill>
                  <a:srgbClr val="C9A84C"/>
                </a:solidFill>
                <a:latin typeface="Arial"/>
              </a:defRPr>
            </a:pPr>
            <a:r>
              <a:t>Automated, daily</a:t>
            </a:r>
          </a:p>
        </p:txBody>
      </p:sp>
      <p:sp>
        <p:nvSpPr>
          <p:cNvPr id="18" name="TextBox 17"/>
          <p:cNvSpPr txBox="1"/>
          <p:nvPr/>
        </p:nvSpPr>
        <p:spPr>
          <a:xfrm>
            <a:off x="1097280" y="4526280"/>
            <a:ext cx="3291840" cy="365760"/>
          </a:xfrm>
          <a:prstGeom prst="rect">
            <a:avLst/>
          </a:prstGeom>
          <a:noFill/>
        </p:spPr>
        <p:txBody>
          <a:bodyPr wrap="square">
            <a:spAutoFit/>
          </a:bodyPr>
          <a:lstStyle/>
          <a:p>
            <a:pPr algn="l">
              <a:defRPr sz="1300" b="0">
                <a:solidFill>
                  <a:srgbClr val="B0B4C0"/>
                </a:solidFill>
                <a:latin typeface="Arial"/>
              </a:defRPr>
            </a:pPr>
            <a:r>
              <a:t>Read &amp; classify</a:t>
            </a:r>
          </a:p>
        </p:txBody>
      </p:sp>
      <p:sp>
        <p:nvSpPr>
          <p:cNvPr id="19" name="TextBox 18"/>
          <p:cNvSpPr txBox="1"/>
          <p:nvPr/>
        </p:nvSpPr>
        <p:spPr>
          <a:xfrm>
            <a:off x="4572000" y="4526280"/>
            <a:ext cx="3291840" cy="365760"/>
          </a:xfrm>
          <a:prstGeom prst="rect">
            <a:avLst/>
          </a:prstGeom>
          <a:noFill/>
        </p:spPr>
        <p:txBody>
          <a:bodyPr wrap="square">
            <a:spAutoFit/>
          </a:bodyPr>
          <a:lstStyle/>
          <a:p>
            <a:pPr algn="l">
              <a:defRPr sz="1300" b="0">
                <a:solidFill>
                  <a:srgbClr val="B0B4C0"/>
                </a:solidFill>
                <a:latin typeface="Arial"/>
              </a:defRPr>
            </a:pPr>
            <a:r>
              <a:t>Hours reading PDFs</a:t>
            </a:r>
          </a:p>
        </p:txBody>
      </p:sp>
      <p:sp>
        <p:nvSpPr>
          <p:cNvPr id="20" name="TextBox 19"/>
          <p:cNvSpPr txBox="1"/>
          <p:nvPr/>
        </p:nvSpPr>
        <p:spPr>
          <a:xfrm>
            <a:off x="8046719" y="4526280"/>
            <a:ext cx="3291840" cy="365760"/>
          </a:xfrm>
          <a:prstGeom prst="rect">
            <a:avLst/>
          </a:prstGeom>
          <a:noFill/>
        </p:spPr>
        <p:txBody>
          <a:bodyPr wrap="square">
            <a:spAutoFit/>
          </a:bodyPr>
          <a:lstStyle/>
          <a:p>
            <a:pPr algn="l">
              <a:defRPr sz="1300" b="0">
                <a:solidFill>
                  <a:srgbClr val="C9A84C"/>
                </a:solidFill>
                <a:latin typeface="Arial"/>
              </a:defRPr>
            </a:pPr>
            <a:r>
              <a:t>AI extracts in minutes</a:t>
            </a:r>
          </a:p>
        </p:txBody>
      </p:sp>
      <p:sp>
        <p:nvSpPr>
          <p:cNvPr id="21" name="TextBox 20"/>
          <p:cNvSpPr txBox="1"/>
          <p:nvPr/>
        </p:nvSpPr>
        <p:spPr>
          <a:xfrm>
            <a:off x="1097280" y="4937760"/>
            <a:ext cx="3291840" cy="365760"/>
          </a:xfrm>
          <a:prstGeom prst="rect">
            <a:avLst/>
          </a:prstGeom>
          <a:noFill/>
        </p:spPr>
        <p:txBody>
          <a:bodyPr wrap="square">
            <a:spAutoFit/>
          </a:bodyPr>
          <a:lstStyle/>
          <a:p>
            <a:pPr algn="l">
              <a:defRPr sz="1300" b="0">
                <a:solidFill>
                  <a:srgbClr val="B0B4C0"/>
                </a:solidFill>
                <a:latin typeface="Arial"/>
              </a:defRPr>
            </a:pPr>
            <a:r>
              <a:t>Match to subs</a:t>
            </a:r>
          </a:p>
        </p:txBody>
      </p:sp>
      <p:sp>
        <p:nvSpPr>
          <p:cNvPr id="22" name="TextBox 21"/>
          <p:cNvSpPr txBox="1"/>
          <p:nvPr/>
        </p:nvSpPr>
        <p:spPr>
          <a:xfrm>
            <a:off x="4572000" y="4937760"/>
            <a:ext cx="3291840" cy="365760"/>
          </a:xfrm>
          <a:prstGeom prst="rect">
            <a:avLst/>
          </a:prstGeom>
          <a:noFill/>
        </p:spPr>
        <p:txBody>
          <a:bodyPr wrap="square">
            <a:spAutoFit/>
          </a:bodyPr>
          <a:lstStyle/>
          <a:p>
            <a:pPr algn="l">
              <a:defRPr sz="1300" b="0">
                <a:solidFill>
                  <a:srgbClr val="B0B4C0"/>
                </a:solidFill>
                <a:latin typeface="Arial"/>
              </a:defRPr>
            </a:pPr>
            <a:r>
              <a:t>Days of calls/emails</a:t>
            </a:r>
          </a:p>
        </p:txBody>
      </p:sp>
      <p:sp>
        <p:nvSpPr>
          <p:cNvPr id="23" name="TextBox 22"/>
          <p:cNvSpPr txBox="1"/>
          <p:nvPr/>
        </p:nvSpPr>
        <p:spPr>
          <a:xfrm>
            <a:off x="8046719" y="4937760"/>
            <a:ext cx="3291840" cy="365760"/>
          </a:xfrm>
          <a:prstGeom prst="rect">
            <a:avLst/>
          </a:prstGeom>
          <a:noFill/>
        </p:spPr>
        <p:txBody>
          <a:bodyPr wrap="square">
            <a:spAutoFit/>
          </a:bodyPr>
          <a:lstStyle/>
          <a:p>
            <a:pPr algn="l">
              <a:defRPr sz="1300" b="0">
                <a:solidFill>
                  <a:srgbClr val="C9A84C"/>
                </a:solidFill>
                <a:latin typeface="Arial"/>
              </a:defRPr>
            </a:pPr>
            <a:r>
              <a:t>Automated matching + pricing</a:t>
            </a:r>
          </a:p>
        </p:txBody>
      </p:sp>
      <p:sp>
        <p:nvSpPr>
          <p:cNvPr id="24" name="TextBox 23"/>
          <p:cNvSpPr txBox="1"/>
          <p:nvPr/>
        </p:nvSpPr>
        <p:spPr>
          <a:xfrm>
            <a:off x="1097280" y="5349240"/>
            <a:ext cx="3291840" cy="365760"/>
          </a:xfrm>
          <a:prstGeom prst="rect">
            <a:avLst/>
          </a:prstGeom>
          <a:noFill/>
        </p:spPr>
        <p:txBody>
          <a:bodyPr wrap="square">
            <a:spAutoFit/>
          </a:bodyPr>
          <a:lstStyle/>
          <a:p>
            <a:pPr algn="l">
              <a:defRPr sz="1300" b="0">
                <a:solidFill>
                  <a:srgbClr val="B0B4C0"/>
                </a:solidFill>
                <a:latin typeface="Arial"/>
              </a:defRPr>
            </a:pPr>
            <a:r>
              <a:t>Draft proposal</a:t>
            </a:r>
          </a:p>
        </p:txBody>
      </p:sp>
      <p:sp>
        <p:nvSpPr>
          <p:cNvPr id="25" name="TextBox 24"/>
          <p:cNvSpPr txBox="1"/>
          <p:nvPr/>
        </p:nvSpPr>
        <p:spPr>
          <a:xfrm>
            <a:off x="4572000" y="5349240"/>
            <a:ext cx="3291840" cy="365760"/>
          </a:xfrm>
          <a:prstGeom prst="rect">
            <a:avLst/>
          </a:prstGeom>
          <a:noFill/>
        </p:spPr>
        <p:txBody>
          <a:bodyPr wrap="square">
            <a:spAutoFit/>
          </a:bodyPr>
          <a:lstStyle/>
          <a:p>
            <a:pPr algn="l">
              <a:defRPr sz="1300" b="0">
                <a:solidFill>
                  <a:srgbClr val="B0B4C0"/>
                </a:solidFill>
                <a:latin typeface="Arial"/>
              </a:defRPr>
            </a:pPr>
            <a:r>
              <a:t>Days of writing</a:t>
            </a:r>
          </a:p>
        </p:txBody>
      </p:sp>
      <p:sp>
        <p:nvSpPr>
          <p:cNvPr id="26" name="TextBox 25"/>
          <p:cNvSpPr txBox="1"/>
          <p:nvPr/>
        </p:nvSpPr>
        <p:spPr>
          <a:xfrm>
            <a:off x="8046719" y="5349240"/>
            <a:ext cx="3291840" cy="365760"/>
          </a:xfrm>
          <a:prstGeom prst="rect">
            <a:avLst/>
          </a:prstGeom>
          <a:noFill/>
        </p:spPr>
        <p:txBody>
          <a:bodyPr wrap="square">
            <a:spAutoFit/>
          </a:bodyPr>
          <a:lstStyle/>
          <a:p>
            <a:pPr algn="l">
              <a:defRPr sz="1300" b="0">
                <a:solidFill>
                  <a:srgbClr val="C9A84C"/>
                </a:solidFill>
                <a:latin typeface="Arial"/>
              </a:defRPr>
            </a:pPr>
            <a:r>
              <a:t>AI draft, human review</a:t>
            </a:r>
          </a:p>
        </p:txBody>
      </p:sp>
      <p:sp>
        <p:nvSpPr>
          <p:cNvPr id="27" name="TextBox 26"/>
          <p:cNvSpPr txBox="1"/>
          <p:nvPr/>
        </p:nvSpPr>
        <p:spPr>
          <a:xfrm>
            <a:off x="1097280" y="5760720"/>
            <a:ext cx="3291840" cy="365760"/>
          </a:xfrm>
          <a:prstGeom prst="rect">
            <a:avLst/>
          </a:prstGeom>
          <a:noFill/>
        </p:spPr>
        <p:txBody>
          <a:bodyPr wrap="square">
            <a:spAutoFit/>
          </a:bodyPr>
          <a:lstStyle/>
          <a:p>
            <a:pPr algn="l">
              <a:defRPr sz="1300" b="0">
                <a:solidFill>
                  <a:srgbClr val="B0B4C0"/>
                </a:solidFill>
                <a:latin typeface="Arial"/>
              </a:defRPr>
            </a:pPr>
            <a:r>
              <a:t>Opportunities / week</a:t>
            </a:r>
          </a:p>
        </p:txBody>
      </p:sp>
      <p:sp>
        <p:nvSpPr>
          <p:cNvPr id="28" name="TextBox 27"/>
          <p:cNvSpPr txBox="1"/>
          <p:nvPr/>
        </p:nvSpPr>
        <p:spPr>
          <a:xfrm>
            <a:off x="4572000" y="5760720"/>
            <a:ext cx="3291840" cy="365760"/>
          </a:xfrm>
          <a:prstGeom prst="rect">
            <a:avLst/>
          </a:prstGeom>
          <a:noFill/>
        </p:spPr>
        <p:txBody>
          <a:bodyPr wrap="square">
            <a:spAutoFit/>
          </a:bodyPr>
          <a:lstStyle/>
          <a:p>
            <a:pPr algn="l">
              <a:defRPr sz="1300" b="0">
                <a:solidFill>
                  <a:srgbClr val="B0B4C0"/>
                </a:solidFill>
                <a:latin typeface="Arial"/>
              </a:defRPr>
            </a:pPr>
            <a:r>
              <a:t>Maybe 5–10</a:t>
            </a:r>
          </a:p>
        </p:txBody>
      </p:sp>
      <p:sp>
        <p:nvSpPr>
          <p:cNvPr id="29" name="TextBox 28"/>
          <p:cNvSpPr txBox="1"/>
          <p:nvPr/>
        </p:nvSpPr>
        <p:spPr>
          <a:xfrm>
            <a:off x="8046719" y="5760720"/>
            <a:ext cx="3291840" cy="365760"/>
          </a:xfrm>
          <a:prstGeom prst="rect">
            <a:avLst/>
          </a:prstGeom>
          <a:noFill/>
        </p:spPr>
        <p:txBody>
          <a:bodyPr wrap="square">
            <a:spAutoFit/>
          </a:bodyPr>
          <a:lstStyle/>
          <a:p>
            <a:pPr algn="l">
              <a:defRPr sz="1300" b="0">
                <a:solidFill>
                  <a:srgbClr val="C9A84C"/>
                </a:solidFill>
                <a:latin typeface="Arial"/>
              </a:defRPr>
            </a:pPr>
            <a:r>
              <a:t>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defRPr sz="3600" b="1">
                <a:solidFill>
                  <a:srgbClr val="FFFFFF"/>
                </a:solidFill>
                <a:latin typeface="Arial"/>
              </a:defRPr>
            </a:pPr>
            <a:r>
              <a:t>Core Verticals</a:t>
            </a:r>
          </a:p>
        </p:txBody>
      </p:sp>
      <p:sp>
        <p:nvSpPr>
          <p:cNvPr id="3" name="Rounded Rectangle 2"/>
          <p:cNvSpPr/>
          <p:nvPr/>
        </p:nvSpPr>
        <p:spPr>
          <a:xfrm>
            <a:off x="457200" y="1371600"/>
            <a:ext cx="3566160" cy="22860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3200400" cy="365760"/>
          </a:xfrm>
          <a:prstGeom prst="rect">
            <a:avLst/>
          </a:prstGeom>
          <a:noFill/>
        </p:spPr>
        <p:txBody>
          <a:bodyPr wrap="square">
            <a:spAutoFit/>
          </a:bodyPr>
          <a:lstStyle/>
          <a:p>
            <a:pPr algn="l">
              <a:defRPr sz="1600" b="1">
                <a:solidFill>
                  <a:srgbClr val="C9A84C"/>
                </a:solidFill>
                <a:latin typeface="Arial"/>
              </a:defRPr>
            </a:pPr>
            <a:r>
              <a:t>🏗️  Facilities &amp; Construction</a:t>
            </a:r>
          </a:p>
        </p:txBody>
      </p:sp>
      <p:sp>
        <p:nvSpPr>
          <p:cNvPr id="5" name="TextBox 4"/>
          <p:cNvSpPr txBox="1"/>
          <p:nvPr/>
        </p:nvSpPr>
        <p:spPr>
          <a:xfrm>
            <a:off x="640080" y="1920240"/>
            <a:ext cx="3200400" cy="1097280"/>
          </a:xfrm>
          <a:prstGeom prst="rect">
            <a:avLst/>
          </a:prstGeom>
          <a:noFill/>
        </p:spPr>
        <p:txBody>
          <a:bodyPr wrap="square">
            <a:spAutoFit/>
          </a:bodyPr>
          <a:lstStyle/>
          <a:p>
            <a:pPr algn="l">
              <a:defRPr sz="1100" b="0">
                <a:solidFill>
                  <a:srgbClr val="B0B4C0"/>
                </a:solidFill>
                <a:latin typeface="Arial"/>
              </a:defRPr>
            </a:pPr>
            <a:r>
              <a:t>HVAC, plumbing, general contracting,</a:t>
            </a:r>
            <a:br/>
            <a:r>
              <a:t>pest control, janitorial, landscaping,</a:t>
            </a:r>
            <a:br/>
            <a:r>
              <a:t>roofing, electrical, fire protection.</a:t>
            </a:r>
          </a:p>
        </p:txBody>
      </p:sp>
      <p:sp>
        <p:nvSpPr>
          <p:cNvPr id="6" name="TextBox 5"/>
          <p:cNvSpPr txBox="1"/>
          <p:nvPr/>
        </p:nvSpPr>
        <p:spPr>
          <a:xfrm>
            <a:off x="640080" y="3108960"/>
            <a:ext cx="3200400" cy="274320"/>
          </a:xfrm>
          <a:prstGeom prst="rect">
            <a:avLst/>
          </a:prstGeom>
          <a:noFill/>
        </p:spPr>
        <p:txBody>
          <a:bodyPr wrap="square">
            <a:spAutoFit/>
          </a:bodyPr>
          <a:lstStyle/>
          <a:p>
            <a:pPr algn="l">
              <a:defRPr sz="900" b="0">
                <a:solidFill>
                  <a:srgbClr val="6B7080"/>
                </a:solidFill>
                <a:latin typeface="Arial"/>
              </a:defRPr>
            </a:pPr>
            <a:r>
              <a:t>PRIMARY · LIVE</a:t>
            </a:r>
          </a:p>
        </p:txBody>
      </p:sp>
      <p:sp>
        <p:nvSpPr>
          <p:cNvPr id="7" name="Rounded Rectangle 6"/>
          <p:cNvSpPr/>
          <p:nvPr/>
        </p:nvSpPr>
        <p:spPr>
          <a:xfrm>
            <a:off x="4297680" y="1371600"/>
            <a:ext cx="3566160" cy="22860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463040"/>
            <a:ext cx="3200400" cy="365760"/>
          </a:xfrm>
          <a:prstGeom prst="rect">
            <a:avLst/>
          </a:prstGeom>
          <a:noFill/>
        </p:spPr>
        <p:txBody>
          <a:bodyPr wrap="square">
            <a:spAutoFit/>
          </a:bodyPr>
          <a:lstStyle/>
          <a:p>
            <a:pPr algn="l">
              <a:defRPr sz="1600" b="1">
                <a:solidFill>
                  <a:srgbClr val="C9A84C"/>
                </a:solidFill>
                <a:latin typeface="Arial"/>
              </a:defRPr>
            </a:pPr>
            <a:r>
              <a:t>💻  IT Services</a:t>
            </a:r>
          </a:p>
        </p:txBody>
      </p:sp>
      <p:sp>
        <p:nvSpPr>
          <p:cNvPr id="9" name="TextBox 8"/>
          <p:cNvSpPr txBox="1"/>
          <p:nvPr/>
        </p:nvSpPr>
        <p:spPr>
          <a:xfrm>
            <a:off x="4480560" y="1920240"/>
            <a:ext cx="3200400" cy="1097280"/>
          </a:xfrm>
          <a:prstGeom prst="rect">
            <a:avLst/>
          </a:prstGeom>
          <a:noFill/>
        </p:spPr>
        <p:txBody>
          <a:bodyPr wrap="square">
            <a:spAutoFit/>
          </a:bodyPr>
          <a:lstStyle/>
          <a:p>
            <a:pPr algn="l">
              <a:defRPr sz="1100" b="0">
                <a:solidFill>
                  <a:srgbClr val="B0B4C0"/>
                </a:solidFill>
                <a:latin typeface="Arial"/>
              </a:defRPr>
            </a:pPr>
            <a:r>
              <a:t>Custom programming, systems design,</a:t>
            </a:r>
            <a:br/>
            <a:r>
              <a:t>cloud infrastructure, cybersecurity,</a:t>
            </a:r>
            <a:br/>
            <a:r>
              <a:t>data processing.</a:t>
            </a:r>
          </a:p>
        </p:txBody>
      </p:sp>
      <p:sp>
        <p:nvSpPr>
          <p:cNvPr id="10" name="TextBox 9"/>
          <p:cNvSpPr txBox="1"/>
          <p:nvPr/>
        </p:nvSpPr>
        <p:spPr>
          <a:xfrm>
            <a:off x="4480560" y="3108960"/>
            <a:ext cx="3200400" cy="274320"/>
          </a:xfrm>
          <a:prstGeom prst="rect">
            <a:avLst/>
          </a:prstGeom>
          <a:noFill/>
        </p:spPr>
        <p:txBody>
          <a:bodyPr wrap="square">
            <a:spAutoFit/>
          </a:bodyPr>
          <a:lstStyle/>
          <a:p>
            <a:pPr algn="l">
              <a:defRPr sz="900" b="0">
                <a:solidFill>
                  <a:srgbClr val="6B7080"/>
                </a:solidFill>
                <a:latin typeface="Arial"/>
              </a:defRPr>
            </a:pPr>
            <a:r>
              <a:t>SECONDARY · LIVE</a:t>
            </a:r>
          </a:p>
        </p:txBody>
      </p:sp>
      <p:sp>
        <p:nvSpPr>
          <p:cNvPr id="11" name="Rounded Rectangle 10"/>
          <p:cNvSpPr/>
          <p:nvPr/>
        </p:nvSpPr>
        <p:spPr>
          <a:xfrm>
            <a:off x="8138160" y="1371600"/>
            <a:ext cx="3566160" cy="22860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463040"/>
            <a:ext cx="3200400" cy="365760"/>
          </a:xfrm>
          <a:prstGeom prst="rect">
            <a:avLst/>
          </a:prstGeom>
          <a:noFill/>
        </p:spPr>
        <p:txBody>
          <a:bodyPr wrap="square">
            <a:spAutoFit/>
          </a:bodyPr>
          <a:lstStyle/>
          <a:p>
            <a:pPr algn="l">
              <a:defRPr sz="1600" b="1">
                <a:solidFill>
                  <a:srgbClr val="C9A84C"/>
                </a:solidFill>
                <a:latin typeface="Arial"/>
              </a:defRPr>
            </a:pPr>
            <a:r>
              <a:t>🚗  Vehicle Maintenance</a:t>
            </a:r>
          </a:p>
        </p:txBody>
      </p:sp>
      <p:sp>
        <p:nvSpPr>
          <p:cNvPr id="13" name="TextBox 12"/>
          <p:cNvSpPr txBox="1"/>
          <p:nvPr/>
        </p:nvSpPr>
        <p:spPr>
          <a:xfrm>
            <a:off x="8321040" y="1920240"/>
            <a:ext cx="3200400" cy="1097280"/>
          </a:xfrm>
          <a:prstGeom prst="rect">
            <a:avLst/>
          </a:prstGeom>
          <a:noFill/>
        </p:spPr>
        <p:txBody>
          <a:bodyPr wrap="square">
            <a:spAutoFit/>
          </a:bodyPr>
          <a:lstStyle/>
          <a:p>
            <a:pPr algn="l">
              <a:defRPr sz="1100" b="0">
                <a:solidFill>
                  <a:srgbClr val="B0B4C0"/>
                </a:solidFill>
                <a:latin typeface="Arial"/>
              </a:defRPr>
            </a:pPr>
            <a:r>
              <a:t>Automotive repair, auto body work.</a:t>
            </a:r>
            <a:br/>
            <a:r>
              <a:t>Fleet maintenance contracts.</a:t>
            </a:r>
          </a:p>
        </p:txBody>
      </p:sp>
      <p:sp>
        <p:nvSpPr>
          <p:cNvPr id="14" name="TextBox 13"/>
          <p:cNvSpPr txBox="1"/>
          <p:nvPr/>
        </p:nvSpPr>
        <p:spPr>
          <a:xfrm>
            <a:off x="8321040" y="3108960"/>
            <a:ext cx="3200400" cy="274320"/>
          </a:xfrm>
          <a:prstGeom prst="rect">
            <a:avLst/>
          </a:prstGeom>
          <a:noFill/>
        </p:spPr>
        <p:txBody>
          <a:bodyPr wrap="square">
            <a:spAutoFit/>
          </a:bodyPr>
          <a:lstStyle/>
          <a:p>
            <a:pPr algn="l">
              <a:defRPr sz="900" b="0">
                <a:solidFill>
                  <a:srgbClr val="6B7080"/>
                </a:solidFill>
                <a:latin typeface="Arial"/>
              </a:defRPr>
            </a:pPr>
            <a:r>
              <a:t>SECONDARY</a:t>
            </a:r>
          </a:p>
        </p:txBody>
      </p:sp>
      <p:sp>
        <p:nvSpPr>
          <p:cNvPr id="15" name="Rounded Rectangle 14"/>
          <p:cNvSpPr/>
          <p:nvPr/>
        </p:nvSpPr>
        <p:spPr>
          <a:xfrm>
            <a:off x="457200" y="3931920"/>
            <a:ext cx="3566160" cy="22860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023359"/>
            <a:ext cx="3200400" cy="365760"/>
          </a:xfrm>
          <a:prstGeom prst="rect">
            <a:avLst/>
          </a:prstGeom>
          <a:noFill/>
        </p:spPr>
        <p:txBody>
          <a:bodyPr wrap="square">
            <a:spAutoFit/>
          </a:bodyPr>
          <a:lstStyle/>
          <a:p>
            <a:pPr algn="l">
              <a:defRPr sz="1600" b="1">
                <a:solidFill>
                  <a:srgbClr val="C9A84C"/>
                </a:solidFill>
                <a:latin typeface="Arial"/>
              </a:defRPr>
            </a:pPr>
            <a:r>
              <a:t>🏢  Commercial Real Estate</a:t>
            </a:r>
          </a:p>
        </p:txBody>
      </p:sp>
      <p:sp>
        <p:nvSpPr>
          <p:cNvPr id="17" name="TextBox 16"/>
          <p:cNvSpPr txBox="1"/>
          <p:nvPr/>
        </p:nvSpPr>
        <p:spPr>
          <a:xfrm>
            <a:off x="640080" y="4480559"/>
            <a:ext cx="3200400" cy="1097280"/>
          </a:xfrm>
          <a:prstGeom prst="rect">
            <a:avLst/>
          </a:prstGeom>
          <a:noFill/>
        </p:spPr>
        <p:txBody>
          <a:bodyPr wrap="square">
            <a:spAutoFit/>
          </a:bodyPr>
          <a:lstStyle/>
          <a:p>
            <a:pPr algn="l">
              <a:defRPr sz="1100" b="0">
                <a:solidFill>
                  <a:srgbClr val="B0B4C0"/>
                </a:solidFill>
                <a:latin typeface="Arial"/>
              </a:defRPr>
            </a:pPr>
            <a:r>
              <a:t>Government lease solicitations.</a:t>
            </a:r>
            <a:br/>
            <a:r>
              <a:t>Source properties, negotiate with</a:t>
            </a:r>
            <a:br/>
            <a:r>
              <a:t>owners. Right to Represent.</a:t>
            </a:r>
          </a:p>
        </p:txBody>
      </p:sp>
      <p:sp>
        <p:nvSpPr>
          <p:cNvPr id="18" name="TextBox 17"/>
          <p:cNvSpPr txBox="1"/>
          <p:nvPr/>
        </p:nvSpPr>
        <p:spPr>
          <a:xfrm>
            <a:off x="640080" y="5669279"/>
            <a:ext cx="3200400" cy="274320"/>
          </a:xfrm>
          <a:prstGeom prst="rect">
            <a:avLst/>
          </a:prstGeom>
          <a:noFill/>
        </p:spPr>
        <p:txBody>
          <a:bodyPr wrap="square">
            <a:spAutoFit/>
          </a:bodyPr>
          <a:lstStyle/>
          <a:p>
            <a:pPr algn="l">
              <a:defRPr sz="900" b="0">
                <a:solidFill>
                  <a:srgbClr val="6B7080"/>
                </a:solidFill>
                <a:latin typeface="Arial"/>
              </a:defRPr>
            </a:pPr>
            <a:r>
              <a:t>PARTNERSHIP</a:t>
            </a:r>
          </a:p>
        </p:txBody>
      </p:sp>
      <p:sp>
        <p:nvSpPr>
          <p:cNvPr id="19" name="Rounded Rectangle 18"/>
          <p:cNvSpPr/>
          <p:nvPr/>
        </p:nvSpPr>
        <p:spPr>
          <a:xfrm>
            <a:off x="4297680" y="3931920"/>
            <a:ext cx="3566160" cy="22860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023359"/>
            <a:ext cx="3200400" cy="365760"/>
          </a:xfrm>
          <a:prstGeom prst="rect">
            <a:avLst/>
          </a:prstGeom>
          <a:noFill/>
        </p:spPr>
        <p:txBody>
          <a:bodyPr wrap="square">
            <a:spAutoFit/>
          </a:bodyPr>
          <a:lstStyle/>
          <a:p>
            <a:pPr algn="l">
              <a:defRPr sz="1600" b="1">
                <a:solidFill>
                  <a:srgbClr val="C9A84C"/>
                </a:solidFill>
                <a:latin typeface="Arial"/>
              </a:defRPr>
            </a:pPr>
            <a:r>
              <a:t>📦  Product Supply</a:t>
            </a:r>
          </a:p>
        </p:txBody>
      </p:sp>
      <p:sp>
        <p:nvSpPr>
          <p:cNvPr id="21" name="TextBox 20"/>
          <p:cNvSpPr txBox="1"/>
          <p:nvPr/>
        </p:nvSpPr>
        <p:spPr>
          <a:xfrm>
            <a:off x="4480560" y="4480559"/>
            <a:ext cx="3200400" cy="1097280"/>
          </a:xfrm>
          <a:prstGeom prst="rect">
            <a:avLst/>
          </a:prstGeom>
          <a:noFill/>
        </p:spPr>
        <p:txBody>
          <a:bodyPr wrap="square">
            <a:spAutoFit/>
          </a:bodyPr>
          <a:lstStyle/>
          <a:p>
            <a:pPr algn="l">
              <a:defRPr sz="1100" b="0">
                <a:solidFill>
                  <a:srgbClr val="B0B4C0"/>
                </a:solidFill>
                <a:latin typeface="Arial"/>
              </a:defRPr>
            </a:pPr>
            <a:r>
              <a:t>Net-30/Net-45 credit terms with</a:t>
            </a:r>
            <a:br/>
            <a:r>
              <a:t>vendors. Lower cash requirement</a:t>
            </a:r>
            <a:br/>
            <a:r>
              <a:t>than construction.</a:t>
            </a:r>
          </a:p>
        </p:txBody>
      </p:sp>
      <p:sp>
        <p:nvSpPr>
          <p:cNvPr id="22" name="TextBox 21"/>
          <p:cNvSpPr txBox="1"/>
          <p:nvPr/>
        </p:nvSpPr>
        <p:spPr>
          <a:xfrm>
            <a:off x="4480560" y="5669279"/>
            <a:ext cx="3200400" cy="274320"/>
          </a:xfrm>
          <a:prstGeom prst="rect">
            <a:avLst/>
          </a:prstGeom>
          <a:noFill/>
        </p:spPr>
        <p:txBody>
          <a:bodyPr wrap="square">
            <a:spAutoFit/>
          </a:bodyPr>
          <a:lstStyle/>
          <a:p>
            <a:pPr algn="l">
              <a:defRPr sz="900" b="0">
                <a:solidFill>
                  <a:srgbClr val="6B7080"/>
                </a:solidFill>
                <a:latin typeface="Arial"/>
              </a:defRPr>
            </a:pPr>
            <a:r>
              <a:t>FUTURE</a:t>
            </a:r>
          </a:p>
        </p:txBody>
      </p:sp>
      <p:sp>
        <p:nvSpPr>
          <p:cNvPr id="23" name="Rounded Rectangle 22"/>
          <p:cNvSpPr/>
          <p:nvPr/>
        </p:nvSpPr>
        <p:spPr>
          <a:xfrm>
            <a:off x="8138160" y="3931920"/>
            <a:ext cx="3566160" cy="22860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4023359"/>
            <a:ext cx="3200400" cy="365760"/>
          </a:xfrm>
          <a:prstGeom prst="rect">
            <a:avLst/>
          </a:prstGeom>
          <a:noFill/>
        </p:spPr>
        <p:txBody>
          <a:bodyPr wrap="square">
            <a:spAutoFit/>
          </a:bodyPr>
          <a:lstStyle/>
          <a:p>
            <a:pPr algn="l">
              <a:defRPr sz="1600" b="1">
                <a:solidFill>
                  <a:srgbClr val="C9A84C"/>
                </a:solidFill>
                <a:latin typeface="Arial"/>
              </a:defRPr>
            </a:pPr>
            <a:r>
              <a:t>➕  Expandable</a:t>
            </a:r>
          </a:p>
        </p:txBody>
      </p:sp>
      <p:sp>
        <p:nvSpPr>
          <p:cNvPr id="25" name="TextBox 24"/>
          <p:cNvSpPr txBox="1"/>
          <p:nvPr/>
        </p:nvSpPr>
        <p:spPr>
          <a:xfrm>
            <a:off x="8321040" y="4480559"/>
            <a:ext cx="3200400" cy="1097280"/>
          </a:xfrm>
          <a:prstGeom prst="rect">
            <a:avLst/>
          </a:prstGeom>
          <a:noFill/>
        </p:spPr>
        <p:txBody>
          <a:bodyPr wrap="square">
            <a:spAutoFit/>
          </a:bodyPr>
          <a:lstStyle/>
          <a:p>
            <a:pPr algn="l">
              <a:defRPr sz="1100" b="0">
                <a:solidFill>
                  <a:srgbClr val="B0B4C0"/>
                </a:solidFill>
                <a:latin typeface="Arial"/>
              </a:defRPr>
            </a:pPr>
            <a:r>
              <a:t>The engine is NAICS-agnostic.</a:t>
            </a:r>
            <a:br/>
            <a:r>
              <a:t>Add any vertical by configuring</a:t>
            </a:r>
            <a:br/>
            <a:r>
              <a:t>filter rules — no code changes.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defRPr sz="3600" b="1">
                <a:solidFill>
                  <a:srgbClr val="FFFFFF"/>
                </a:solidFill>
                <a:latin typeface="Arial"/>
              </a:defRPr>
            </a:pPr>
            <a:r>
              <a:t>Financial &amp; Bonding Strategy</a:t>
            </a:r>
          </a:p>
        </p:txBody>
      </p:sp>
      <p:sp>
        <p:nvSpPr>
          <p:cNvPr id="3" name="Rounded Rectangle 2"/>
          <p:cNvSpPr/>
          <p:nvPr/>
        </p:nvSpPr>
        <p:spPr>
          <a:xfrm>
            <a:off x="731520" y="1371600"/>
            <a:ext cx="5120640" cy="292608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4754879" cy="365760"/>
          </a:xfrm>
          <a:prstGeom prst="rect">
            <a:avLst/>
          </a:prstGeom>
          <a:noFill/>
        </p:spPr>
        <p:txBody>
          <a:bodyPr wrap="square">
            <a:spAutoFit/>
          </a:bodyPr>
          <a:lstStyle/>
          <a:p>
            <a:pPr algn="l">
              <a:defRPr sz="1800" b="1">
                <a:solidFill>
                  <a:srgbClr val="C9A84C"/>
                </a:solidFill>
                <a:latin typeface="Arial"/>
              </a:defRPr>
            </a:pPr>
            <a:r>
              <a:t>Under $150,000</a:t>
            </a:r>
          </a:p>
        </p:txBody>
      </p:sp>
      <p:sp>
        <p:nvSpPr>
          <p:cNvPr id="5" name="TextBox 4"/>
          <p:cNvSpPr txBox="1"/>
          <p:nvPr/>
        </p:nvSpPr>
        <p:spPr>
          <a:xfrm>
            <a:off x="914400" y="1828800"/>
            <a:ext cx="4754879" cy="2377440"/>
          </a:xfrm>
          <a:prstGeom prst="rect">
            <a:avLst/>
          </a:prstGeom>
          <a:noFill/>
        </p:spPr>
        <p:txBody>
          <a:bodyPr wrap="square">
            <a:spAutoFit/>
          </a:bodyPr>
          <a:lstStyle/>
          <a:p>
            <a:pPr algn="l">
              <a:spcAft>
                <a:spcPts val="400"/>
              </a:spcAft>
              <a:defRPr sz="1400" b="0">
                <a:solidFill>
                  <a:srgbClr val="B0B4C0"/>
                </a:solidFill>
                <a:latin typeface="Arial"/>
              </a:defRPr>
            </a:pPr>
            <a:r>
              <a:t>• Simplified Acquisition Threshold</a:t>
            </a:r>
          </a:p>
          <a:p>
            <a:pPr>
              <a:spcAft>
                <a:spcPts val="400"/>
              </a:spcAft>
              <a:defRPr sz="1400">
                <a:solidFill>
                  <a:srgbClr val="B0B4C0"/>
                </a:solidFill>
                <a:latin typeface="Arial"/>
              </a:defRPr>
            </a:pPr>
            <a:r>
              <a:t>• No bid bond or performance bond required</a:t>
            </a:r>
          </a:p>
          <a:p>
            <a:pPr>
              <a:spcAft>
                <a:spcPts val="400"/>
              </a:spcAft>
              <a:defRPr sz="1400">
                <a:solidFill>
                  <a:srgbClr val="B0B4C0"/>
                </a:solidFill>
                <a:latin typeface="Arial"/>
              </a:defRPr>
            </a:pPr>
            <a:r>
              <a:t>• Focus construction opportunities here initially</a:t>
            </a:r>
          </a:p>
          <a:p>
            <a:pPr>
              <a:spcAft>
                <a:spcPts val="400"/>
              </a:spcAft>
              <a:defRPr sz="1400">
                <a:solidFill>
                  <a:srgbClr val="B0B4C0"/>
                </a:solidFill>
                <a:latin typeface="Arial"/>
              </a:defRPr>
            </a:pPr>
            <a:r>
              <a:t>• Low barrier to entry</a:t>
            </a:r>
          </a:p>
          <a:p>
            <a:pPr>
              <a:spcAft>
                <a:spcPts val="400"/>
              </a:spcAft>
              <a:defRPr sz="1400">
                <a:solidFill>
                  <a:srgbClr val="B0B4C0"/>
                </a:solidFill>
                <a:latin typeface="Arial"/>
              </a:defRPr>
            </a:pPr>
            <a:r>
              <a:t>• Build past performance while minimizing risk</a:t>
            </a:r>
          </a:p>
        </p:txBody>
      </p:sp>
      <p:sp>
        <p:nvSpPr>
          <p:cNvPr id="6" name="Rounded Rectangle 5"/>
          <p:cNvSpPr/>
          <p:nvPr/>
        </p:nvSpPr>
        <p:spPr>
          <a:xfrm>
            <a:off x="6400800" y="1371600"/>
            <a:ext cx="5120640" cy="292608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463040"/>
            <a:ext cx="4754879" cy="365760"/>
          </a:xfrm>
          <a:prstGeom prst="rect">
            <a:avLst/>
          </a:prstGeom>
          <a:noFill/>
        </p:spPr>
        <p:txBody>
          <a:bodyPr wrap="square">
            <a:spAutoFit/>
          </a:bodyPr>
          <a:lstStyle/>
          <a:p>
            <a:pPr algn="l">
              <a:defRPr sz="1800" b="1">
                <a:solidFill>
                  <a:srgbClr val="C9A84C"/>
                </a:solidFill>
                <a:latin typeface="Arial"/>
              </a:defRPr>
            </a:pPr>
            <a:r>
              <a:t>Over $150,000</a:t>
            </a:r>
          </a:p>
        </p:txBody>
      </p:sp>
      <p:sp>
        <p:nvSpPr>
          <p:cNvPr id="8" name="TextBox 7"/>
          <p:cNvSpPr txBox="1"/>
          <p:nvPr/>
        </p:nvSpPr>
        <p:spPr>
          <a:xfrm>
            <a:off x="6583680" y="1828800"/>
            <a:ext cx="4754879" cy="2377440"/>
          </a:xfrm>
          <a:prstGeom prst="rect">
            <a:avLst/>
          </a:prstGeom>
          <a:noFill/>
        </p:spPr>
        <p:txBody>
          <a:bodyPr wrap="square">
            <a:spAutoFit/>
          </a:bodyPr>
          <a:lstStyle/>
          <a:p>
            <a:pPr algn="l">
              <a:spcAft>
                <a:spcPts val="400"/>
              </a:spcAft>
              <a:defRPr sz="1400" b="0">
                <a:solidFill>
                  <a:srgbClr val="B0B4C0"/>
                </a:solidFill>
                <a:latin typeface="Arial"/>
              </a:defRPr>
            </a:pPr>
            <a:r>
              <a:t>• Partner with established construction companies</a:t>
            </a:r>
          </a:p>
          <a:p>
            <a:pPr>
              <a:spcAft>
                <a:spcPts val="400"/>
              </a:spcAft>
              <a:defRPr sz="1400">
                <a:solidFill>
                  <a:srgbClr val="B0B4C0"/>
                </a:solidFill>
                <a:latin typeface="Arial"/>
              </a:defRPr>
            </a:pPr>
            <a:r>
              <a:t>• They bring: strong bonding capacity, past performance</a:t>
            </a:r>
          </a:p>
          <a:p>
            <a:pPr>
              <a:spcAft>
                <a:spcPts val="400"/>
              </a:spcAft>
              <a:defRPr sz="1400">
                <a:solidFill>
                  <a:srgbClr val="B0B4C0"/>
                </a:solidFill>
                <a:latin typeface="Arial"/>
              </a:defRPr>
            </a:pPr>
            <a:r>
              <a:t>• We bring: deal flow, software, subcontractor network</a:t>
            </a:r>
          </a:p>
          <a:p>
            <a:pPr>
              <a:spcAft>
                <a:spcPts val="400"/>
              </a:spcAft>
              <a:defRPr sz="1400">
                <a:solidFill>
                  <a:srgbClr val="B0B4C0"/>
                </a:solidFill>
                <a:latin typeface="Arial"/>
              </a:defRPr>
            </a:pPr>
            <a:r>
              <a:t>• Piggyback on their credentials</a:t>
            </a:r>
          </a:p>
          <a:p>
            <a:pPr>
              <a:spcAft>
                <a:spcPts val="400"/>
              </a:spcAft>
              <a:defRPr sz="1400">
                <a:solidFill>
                  <a:srgbClr val="B0B4C0"/>
                </a:solidFill>
                <a:latin typeface="Arial"/>
              </a:defRPr>
            </a:pPr>
            <a:r>
              <a:t>• Expand into larger opportunities over time</a:t>
            </a:r>
          </a:p>
        </p:txBody>
      </p:sp>
      <p:sp>
        <p:nvSpPr>
          <p:cNvPr id="9" name="Rounded Rectangle 8"/>
          <p:cNvSpPr/>
          <p:nvPr/>
        </p:nvSpPr>
        <p:spPr>
          <a:xfrm>
            <a:off x="731520" y="4754880"/>
            <a:ext cx="10698480" cy="9144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46320"/>
            <a:ext cx="10332720" cy="365760"/>
          </a:xfrm>
          <a:prstGeom prst="rect">
            <a:avLst/>
          </a:prstGeom>
          <a:noFill/>
        </p:spPr>
        <p:txBody>
          <a:bodyPr wrap="square">
            <a:spAutoFit/>
          </a:bodyPr>
          <a:lstStyle/>
          <a:p>
            <a:pPr algn="l">
              <a:defRPr sz="1600" b="1">
                <a:solidFill>
                  <a:srgbClr val="C9A84C"/>
                </a:solidFill>
                <a:latin typeface="Arial"/>
              </a:defRPr>
            </a:pPr>
            <a:r>
              <a:t>Revenue Model</a:t>
            </a:r>
          </a:p>
        </p:txBody>
      </p:sp>
      <p:sp>
        <p:nvSpPr>
          <p:cNvPr id="11" name="TextBox 10"/>
          <p:cNvSpPr txBox="1"/>
          <p:nvPr/>
        </p:nvSpPr>
        <p:spPr>
          <a:xfrm>
            <a:off x="914400" y="5212080"/>
            <a:ext cx="10332720" cy="365760"/>
          </a:xfrm>
          <a:prstGeom prst="rect">
            <a:avLst/>
          </a:prstGeom>
          <a:noFill/>
        </p:spPr>
        <p:txBody>
          <a:bodyPr wrap="square">
            <a:spAutoFit/>
          </a:bodyPr>
          <a:lstStyle/>
          <a:p>
            <a:pPr algn="l">
              <a:defRPr sz="1400" b="0">
                <a:solidFill>
                  <a:srgbClr val="B0B4C0"/>
                </a:solidFill>
                <a:latin typeface="Arial"/>
              </a:defRPr>
            </a:pPr>
            <a:r>
              <a:t>We earn the full contract value as prime. Our margin is the difference between the price we win and the prices our subs quote. Scale comes from software and network, not headcount.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defRPr sz="3600" b="1">
                <a:solidFill>
                  <a:srgbClr val="FFFFFF"/>
                </a:solidFill>
                <a:latin typeface="Arial"/>
              </a:defRPr>
            </a:pPr>
            <a:r>
              <a:t>What's Already Built</a:t>
            </a:r>
          </a:p>
        </p:txBody>
      </p:sp>
      <p:sp>
        <p:nvSpPr>
          <p:cNvPr id="3" name="Rounded Rectangle 2"/>
          <p:cNvSpPr/>
          <p:nvPr/>
        </p:nvSpPr>
        <p:spPr>
          <a:xfrm>
            <a:off x="457200" y="1280160"/>
            <a:ext cx="5486400" cy="329184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20640" cy="365760"/>
          </a:xfrm>
          <a:prstGeom prst="rect">
            <a:avLst/>
          </a:prstGeom>
          <a:noFill/>
        </p:spPr>
        <p:txBody>
          <a:bodyPr wrap="square">
            <a:spAutoFit/>
          </a:bodyPr>
          <a:lstStyle/>
          <a:p>
            <a:pPr algn="l">
              <a:defRPr sz="1800" b="1">
                <a:solidFill>
                  <a:srgbClr val="C9A84C"/>
                </a:solidFill>
                <a:latin typeface="Arial"/>
              </a:defRPr>
            </a:pPr>
            <a:r>
              <a:t>SAM.gov Pipeline  ✅</a:t>
            </a:r>
          </a:p>
        </p:txBody>
      </p:sp>
      <p:sp>
        <p:nvSpPr>
          <p:cNvPr id="5" name="TextBox 4"/>
          <p:cNvSpPr txBox="1"/>
          <p:nvPr/>
        </p:nvSpPr>
        <p:spPr>
          <a:xfrm>
            <a:off x="640080" y="1737360"/>
            <a:ext cx="5120640" cy="2743200"/>
          </a:xfrm>
          <a:prstGeom prst="rect">
            <a:avLst/>
          </a:prstGeom>
          <a:noFill/>
        </p:spPr>
        <p:txBody>
          <a:bodyPr wrap="square">
            <a:spAutoFit/>
          </a:bodyPr>
          <a:lstStyle/>
          <a:p>
            <a:pPr algn="l">
              <a:spcAft>
                <a:spcPts val="400"/>
              </a:spcAft>
              <a:defRPr sz="1200" b="0">
                <a:solidFill>
                  <a:srgbClr val="B0B4C0"/>
                </a:solidFill>
                <a:latin typeface="Arial"/>
              </a:defRPr>
            </a:pPr>
            <a:r>
              <a:t>• CSV upload: 46K rows in ~2 seconds</a:t>
            </a:r>
          </a:p>
          <a:p>
            <a:pPr>
              <a:spcAft>
                <a:spcPts val="400"/>
              </a:spcAft>
              <a:defRPr sz="1200">
                <a:solidFill>
                  <a:srgbClr val="B0B4C0"/>
                </a:solidFill>
                <a:latin typeface="Arial"/>
              </a:defRPr>
            </a:pPr>
            <a:r>
              <a:t>• Five-gate filter: type → NAICS → set-aside → urgency → dedup</a:t>
            </a:r>
          </a:p>
          <a:p>
            <a:pPr>
              <a:spcAft>
                <a:spcPts val="400"/>
              </a:spcAft>
              <a:defRPr sz="1200">
                <a:solidFill>
                  <a:srgbClr val="B0B4C0"/>
                </a:solidFill>
                <a:latin typeface="Arial"/>
              </a:defRPr>
            </a:pPr>
            <a:r>
              <a:t>• Row-level idempotency: same CSV twice = zero duplicates</a:t>
            </a:r>
          </a:p>
          <a:p>
            <a:pPr>
              <a:spcAft>
                <a:spcPts val="400"/>
              </a:spcAft>
              <a:defRPr sz="1200">
                <a:solidFill>
                  <a:srgbClr val="B0B4C0"/>
                </a:solidFill>
                <a:latin typeface="Arial"/>
              </a:defRPr>
            </a:pPr>
            <a:r>
              <a:t>• One-click 'Filter → Solicitations' creates solicitation records</a:t>
            </a:r>
          </a:p>
          <a:p>
            <a:pPr>
              <a:spcAft>
                <a:spcPts val="400"/>
              </a:spcAft>
              <a:defRPr sz="1200">
                <a:solidFill>
                  <a:srgbClr val="B0B4C0"/>
                </a:solidFill>
                <a:latin typeface="Arial"/>
              </a:defRPr>
            </a:pPr>
            <a:r>
              <a:t>• AI triage pipeline: sam_fetch → triage → vendor matching</a:t>
            </a:r>
          </a:p>
          <a:p>
            <a:pPr>
              <a:spcAft>
                <a:spcPts val="400"/>
              </a:spcAft>
              <a:defRPr sz="1200">
                <a:solidFill>
                  <a:srgbClr val="B0B4C0"/>
                </a:solidFill>
                <a:latin typeface="Arial"/>
              </a:defRPr>
            </a:pPr>
            <a:r>
              <a:t>• Clickable notice IDs resolve to SAM.gov URLs</a:t>
            </a:r>
          </a:p>
        </p:txBody>
      </p:sp>
      <p:sp>
        <p:nvSpPr>
          <p:cNvPr id="6" name="Rounded Rectangle 5"/>
          <p:cNvSpPr/>
          <p:nvPr/>
        </p:nvSpPr>
        <p:spPr>
          <a:xfrm>
            <a:off x="6309360" y="1280160"/>
            <a:ext cx="5486400" cy="329184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371600"/>
            <a:ext cx="5120640" cy="365760"/>
          </a:xfrm>
          <a:prstGeom prst="rect">
            <a:avLst/>
          </a:prstGeom>
          <a:noFill/>
        </p:spPr>
        <p:txBody>
          <a:bodyPr wrap="square">
            <a:spAutoFit/>
          </a:bodyPr>
          <a:lstStyle/>
          <a:p>
            <a:pPr algn="l">
              <a:defRPr sz="1800" b="1">
                <a:solidFill>
                  <a:srgbClr val="C9A84C"/>
                </a:solidFill>
                <a:latin typeface="Arial"/>
              </a:defRPr>
            </a:pPr>
            <a:r>
              <a:t>USASpending Pipeline  ✅</a:t>
            </a:r>
          </a:p>
        </p:txBody>
      </p:sp>
      <p:sp>
        <p:nvSpPr>
          <p:cNvPr id="8" name="TextBox 7"/>
          <p:cNvSpPr txBox="1"/>
          <p:nvPr/>
        </p:nvSpPr>
        <p:spPr>
          <a:xfrm>
            <a:off x="6492240" y="1737360"/>
            <a:ext cx="5120640" cy="2743200"/>
          </a:xfrm>
          <a:prstGeom prst="rect">
            <a:avLst/>
          </a:prstGeom>
          <a:noFill/>
        </p:spPr>
        <p:txBody>
          <a:bodyPr wrap="square">
            <a:spAutoFit/>
          </a:bodyPr>
          <a:lstStyle/>
          <a:p>
            <a:pPr algn="l">
              <a:spcAft>
                <a:spcPts val="400"/>
              </a:spcAft>
              <a:defRPr sz="1200" b="0">
                <a:solidFill>
                  <a:srgbClr val="B0B4C0"/>
                </a:solidFill>
                <a:latin typeface="Arial"/>
              </a:defRPr>
            </a:pPr>
            <a:r>
              <a:t>• 136K-row CSV upload with streaming (no memory issues)</a:t>
            </a:r>
          </a:p>
          <a:p>
            <a:pPr>
              <a:spcAft>
                <a:spcPts val="400"/>
              </a:spcAft>
              <a:defRPr sz="1200">
                <a:solidFill>
                  <a:srgbClr val="B0B4C0"/>
                </a:solidFill>
                <a:latin typeface="Arial"/>
              </a:defRPr>
            </a:pPr>
            <a:r>
              <a:t>• Four-gate filter: plan F/G → active → NAICS → valid keys</a:t>
            </a:r>
          </a:p>
          <a:p>
            <a:pPr>
              <a:spcAft>
                <a:spcPts val="400"/>
              </a:spcAft>
              <a:defRPr sz="1200">
                <a:solidFill>
                  <a:srgbClr val="B0B4C0"/>
                </a:solidFill>
                <a:latin typeface="Arial"/>
              </a:defRPr>
            </a:pPr>
            <a:r>
              <a:t>• Priority scoring: 0–100 based on plan, value, pool membership</a:t>
            </a:r>
          </a:p>
          <a:p>
            <a:pPr>
              <a:spcAft>
                <a:spcPts val="400"/>
              </a:spcAft>
              <a:defRPr sz="1200">
                <a:solidFill>
                  <a:srgbClr val="B0B4C0"/>
                </a:solidFill>
                <a:latin typeface="Arial"/>
              </a:defRPr>
            </a:pPr>
            <a:r>
              <a:t>• Multi-award pool identification via solicitation grouping</a:t>
            </a:r>
          </a:p>
          <a:p>
            <a:pPr>
              <a:spcAft>
                <a:spcPts val="400"/>
              </a:spcAft>
              <a:defRPr sz="1200">
                <a:solidFill>
                  <a:srgbClr val="B0B4C0"/>
                </a:solidFill>
                <a:latin typeface="Arial"/>
              </a:defRPr>
            </a:pPr>
            <a:r>
              <a:t>• Dedup: (award_id_piid, recipient_uei)</a:t>
            </a:r>
          </a:p>
          <a:p>
            <a:pPr>
              <a:spcAft>
                <a:spcPts val="400"/>
              </a:spcAft>
              <a:defRPr sz="1200">
                <a:solidFill>
                  <a:srgbClr val="B0B4C0"/>
                </a:solidFill>
                <a:latin typeface="Arial"/>
              </a:defRPr>
            </a:pPr>
            <a:r>
              <a:t>• Expandable row detail: agency, NAICS, socioeconomic flags</a:t>
            </a:r>
          </a:p>
        </p:txBody>
      </p:sp>
      <p:sp>
        <p:nvSpPr>
          <p:cNvPr id="9" name="Rounded Rectangle 8"/>
          <p:cNvSpPr/>
          <p:nvPr/>
        </p:nvSpPr>
        <p:spPr>
          <a:xfrm>
            <a:off x="457200" y="4846320"/>
            <a:ext cx="11338560" cy="13716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937760"/>
            <a:ext cx="10698480" cy="365760"/>
          </a:xfrm>
          <a:prstGeom prst="rect">
            <a:avLst/>
          </a:prstGeom>
          <a:noFill/>
        </p:spPr>
        <p:txBody>
          <a:bodyPr wrap="square">
            <a:spAutoFit/>
          </a:bodyPr>
          <a:lstStyle/>
          <a:p>
            <a:pPr algn="l">
              <a:defRPr sz="1600" b="1">
                <a:solidFill>
                  <a:srgbClr val="C9A84C"/>
                </a:solidFill>
                <a:latin typeface="Arial"/>
              </a:defRPr>
            </a:pPr>
            <a:r>
              <a:t>Infrastructure</a:t>
            </a:r>
          </a:p>
        </p:txBody>
      </p:sp>
      <p:sp>
        <p:nvSpPr>
          <p:cNvPr id="11" name="TextBox 10"/>
          <p:cNvSpPr txBox="1"/>
          <p:nvPr/>
        </p:nvSpPr>
        <p:spPr>
          <a:xfrm>
            <a:off x="731520" y="5303520"/>
            <a:ext cx="10698480" cy="731520"/>
          </a:xfrm>
          <a:prstGeom prst="rect">
            <a:avLst/>
          </a:prstGeom>
          <a:noFill/>
        </p:spPr>
        <p:txBody>
          <a:bodyPr wrap="square">
            <a:spAutoFit/>
          </a:bodyPr>
          <a:lstStyle/>
          <a:p>
            <a:pPr algn="l">
              <a:defRPr sz="1200" b="0">
                <a:solidFill>
                  <a:srgbClr val="B0B4C0"/>
                </a:solidFill>
                <a:latin typeface="Arial"/>
              </a:defRPr>
            </a:pPr>
            <a:r>
              <a:t>FastAPI backend  ·  Next.js 16 frontend  ·  PostgreSQL + pgvector  ·  Claude AI integration  ·  Background job queue  ·  JWT auth  ·  Mailgun email  ·  SAM.gov API client  ·  OCR pipeline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defRPr sz="3600" b="1">
                <a:solidFill>
                  <a:srgbClr val="FFFFFF"/>
                </a:solidFill>
                <a:latin typeface="Arial"/>
              </a:defRPr>
            </a:pPr>
            <a:r>
              <a:t>The Subcontractor Network</a:t>
            </a:r>
          </a:p>
        </p:txBody>
      </p:sp>
      <p:sp>
        <p:nvSpPr>
          <p:cNvPr id="3" name="Rounded Rectangle 2"/>
          <p:cNvSpPr/>
          <p:nvPr/>
        </p:nvSpPr>
        <p:spPr>
          <a:xfrm>
            <a:off x="731520" y="1463040"/>
            <a:ext cx="3474720" cy="27432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2926080" cy="457200"/>
          </a:xfrm>
          <a:prstGeom prst="rect">
            <a:avLst/>
          </a:prstGeom>
          <a:noFill/>
        </p:spPr>
        <p:txBody>
          <a:bodyPr wrap="square">
            <a:spAutoFit/>
          </a:bodyPr>
          <a:lstStyle/>
          <a:p>
            <a:pPr algn="ctr">
              <a:defRPr sz="3600" b="0">
                <a:solidFill>
                  <a:srgbClr val="E4E6ED"/>
                </a:solidFill>
                <a:latin typeface="Arial"/>
              </a:defRPr>
            </a:pPr>
            <a:r>
              <a:t>📋</a:t>
            </a:r>
          </a:p>
        </p:txBody>
      </p:sp>
      <p:sp>
        <p:nvSpPr>
          <p:cNvPr id="5" name="TextBox 4"/>
          <p:cNvSpPr txBox="1"/>
          <p:nvPr/>
        </p:nvSpPr>
        <p:spPr>
          <a:xfrm>
            <a:off x="1005840" y="2194560"/>
            <a:ext cx="2926080" cy="457200"/>
          </a:xfrm>
          <a:prstGeom prst="rect">
            <a:avLst/>
          </a:prstGeom>
          <a:noFill/>
        </p:spPr>
        <p:txBody>
          <a:bodyPr wrap="square">
            <a:spAutoFit/>
          </a:bodyPr>
          <a:lstStyle/>
          <a:p>
            <a:pPr algn="ctr">
              <a:defRPr sz="2000" b="1">
                <a:solidFill>
                  <a:srgbClr val="C9A84C"/>
                </a:solidFill>
                <a:latin typeface="Arial"/>
              </a:defRPr>
            </a:pPr>
            <a:r>
              <a:t>Register Once</a:t>
            </a:r>
          </a:p>
        </p:txBody>
      </p:sp>
      <p:sp>
        <p:nvSpPr>
          <p:cNvPr id="6" name="TextBox 5"/>
          <p:cNvSpPr txBox="1"/>
          <p:nvPr/>
        </p:nvSpPr>
        <p:spPr>
          <a:xfrm>
            <a:off x="1005840" y="2743200"/>
            <a:ext cx="2926080" cy="1371600"/>
          </a:xfrm>
          <a:prstGeom prst="rect">
            <a:avLst/>
          </a:prstGeom>
          <a:noFill/>
        </p:spPr>
        <p:txBody>
          <a:bodyPr wrap="square">
            <a:spAutoFit/>
          </a:bodyPr>
          <a:lstStyle/>
          <a:p>
            <a:pPr algn="ctr">
              <a:defRPr sz="1300" b="0">
                <a:solidFill>
                  <a:srgbClr val="B0B4C0"/>
                </a:solidFill>
                <a:latin typeface="Arial"/>
              </a:defRPr>
            </a:pPr>
            <a:r>
              <a:t>Subs provide licenses, insurance,</a:t>
            </a:r>
            <a:br/>
            <a:r>
              <a:t>bonding, and capabilities.</a:t>
            </a:r>
            <a:br/>
            <a:r>
              <a:t>Stored once, reused for every bid.</a:t>
            </a:r>
          </a:p>
        </p:txBody>
      </p:sp>
      <p:sp>
        <p:nvSpPr>
          <p:cNvPr id="7" name="Rounded Rectangle 6"/>
          <p:cNvSpPr/>
          <p:nvPr/>
        </p:nvSpPr>
        <p:spPr>
          <a:xfrm>
            <a:off x="4572000" y="1463040"/>
            <a:ext cx="3474720" cy="27432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0" y="1645920"/>
            <a:ext cx="2926080" cy="457200"/>
          </a:xfrm>
          <a:prstGeom prst="rect">
            <a:avLst/>
          </a:prstGeom>
          <a:noFill/>
        </p:spPr>
        <p:txBody>
          <a:bodyPr wrap="square">
            <a:spAutoFit/>
          </a:bodyPr>
          <a:lstStyle/>
          <a:p>
            <a:pPr algn="ctr">
              <a:defRPr sz="3600" b="0">
                <a:solidFill>
                  <a:srgbClr val="E4E6ED"/>
                </a:solidFill>
                <a:latin typeface="Arial"/>
              </a:defRPr>
            </a:pPr>
            <a:r>
              <a:t>📬</a:t>
            </a:r>
          </a:p>
        </p:txBody>
      </p:sp>
      <p:sp>
        <p:nvSpPr>
          <p:cNvPr id="9" name="TextBox 8"/>
          <p:cNvSpPr txBox="1"/>
          <p:nvPr/>
        </p:nvSpPr>
        <p:spPr>
          <a:xfrm>
            <a:off x="4846320" y="2194560"/>
            <a:ext cx="2926080" cy="457200"/>
          </a:xfrm>
          <a:prstGeom prst="rect">
            <a:avLst/>
          </a:prstGeom>
          <a:noFill/>
        </p:spPr>
        <p:txBody>
          <a:bodyPr wrap="square">
            <a:spAutoFit/>
          </a:bodyPr>
          <a:lstStyle/>
          <a:p>
            <a:pPr algn="ctr">
              <a:defRPr sz="2000" b="1">
                <a:solidFill>
                  <a:srgbClr val="C9A84C"/>
                </a:solidFill>
                <a:latin typeface="Arial"/>
              </a:defRPr>
            </a:pPr>
            <a:r>
              <a:t>Steady Pipeline</a:t>
            </a:r>
          </a:p>
        </p:txBody>
      </p:sp>
      <p:sp>
        <p:nvSpPr>
          <p:cNvPr id="10" name="TextBox 9"/>
          <p:cNvSpPr txBox="1"/>
          <p:nvPr/>
        </p:nvSpPr>
        <p:spPr>
          <a:xfrm>
            <a:off x="4846320" y="2743200"/>
            <a:ext cx="2926080" cy="1371600"/>
          </a:xfrm>
          <a:prstGeom prst="rect">
            <a:avLst/>
          </a:prstGeom>
          <a:noFill/>
        </p:spPr>
        <p:txBody>
          <a:bodyPr wrap="square">
            <a:spAutoFit/>
          </a:bodyPr>
          <a:lstStyle/>
          <a:p>
            <a:pPr algn="ctr">
              <a:defRPr sz="1300" b="0">
                <a:solidFill>
                  <a:srgbClr val="B0B4C0"/>
                </a:solidFill>
                <a:latin typeface="Arial"/>
              </a:defRPr>
            </a:pPr>
            <a:r>
              <a:t>Matched subs receive simple</a:t>
            </a:r>
            <a:br/>
            <a:r>
              <a:t>pricing requests — no jargon,</a:t>
            </a:r>
            <a:br/>
            <a:r>
              <a:t>no forms, no SAM.gov navigation.</a:t>
            </a:r>
          </a:p>
        </p:txBody>
      </p:sp>
      <p:sp>
        <p:nvSpPr>
          <p:cNvPr id="11" name="Rounded Rectangle 10"/>
          <p:cNvSpPr/>
          <p:nvPr/>
        </p:nvSpPr>
        <p:spPr>
          <a:xfrm>
            <a:off x="8412480" y="1463040"/>
            <a:ext cx="3474720" cy="27432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0" y="1645920"/>
            <a:ext cx="2926080" cy="457200"/>
          </a:xfrm>
          <a:prstGeom prst="rect">
            <a:avLst/>
          </a:prstGeom>
          <a:noFill/>
        </p:spPr>
        <p:txBody>
          <a:bodyPr wrap="square">
            <a:spAutoFit/>
          </a:bodyPr>
          <a:lstStyle/>
          <a:p>
            <a:pPr algn="ctr">
              <a:defRPr sz="3600" b="0">
                <a:solidFill>
                  <a:srgbClr val="E4E6ED"/>
                </a:solidFill>
                <a:latin typeface="Arial"/>
              </a:defRPr>
            </a:pPr>
            <a:r>
              <a:t>💵</a:t>
            </a:r>
          </a:p>
        </p:txBody>
      </p:sp>
      <p:sp>
        <p:nvSpPr>
          <p:cNvPr id="13" name="TextBox 12"/>
          <p:cNvSpPr txBox="1"/>
          <p:nvPr/>
        </p:nvSpPr>
        <p:spPr>
          <a:xfrm>
            <a:off x="8686800" y="2194560"/>
            <a:ext cx="2926080" cy="457200"/>
          </a:xfrm>
          <a:prstGeom prst="rect">
            <a:avLst/>
          </a:prstGeom>
          <a:noFill/>
        </p:spPr>
        <p:txBody>
          <a:bodyPr wrap="square">
            <a:spAutoFit/>
          </a:bodyPr>
          <a:lstStyle/>
          <a:p>
            <a:pPr algn="ctr">
              <a:defRPr sz="2000" b="1">
                <a:solidFill>
                  <a:srgbClr val="C9A84C"/>
                </a:solidFill>
                <a:latin typeface="Arial"/>
              </a:defRPr>
            </a:pPr>
            <a:r>
              <a:t>Get Paid On Time</a:t>
            </a:r>
          </a:p>
        </p:txBody>
      </p:sp>
      <p:sp>
        <p:nvSpPr>
          <p:cNvPr id="14" name="TextBox 13"/>
          <p:cNvSpPr txBox="1"/>
          <p:nvPr/>
        </p:nvSpPr>
        <p:spPr>
          <a:xfrm>
            <a:off x="8686800" y="2743200"/>
            <a:ext cx="2926080" cy="1371600"/>
          </a:xfrm>
          <a:prstGeom prst="rect">
            <a:avLst/>
          </a:prstGeom>
          <a:noFill/>
        </p:spPr>
        <p:txBody>
          <a:bodyPr wrap="square">
            <a:spAutoFit/>
          </a:bodyPr>
          <a:lstStyle/>
          <a:p>
            <a:pPr algn="ctr">
              <a:defRPr sz="1300" b="0">
                <a:solidFill>
                  <a:srgbClr val="B0B4C0"/>
                </a:solidFill>
                <a:latin typeface="Arial"/>
              </a:defRPr>
            </a:pPr>
            <a:r>
              <a:t>We handle the government invoicing.</a:t>
            </a:r>
            <a:br/>
            <a:r>
              <a:t>Subs get paid when we get paid.</a:t>
            </a:r>
            <a:br/>
            <a:r>
              <a:t>No chasing agencies.</a:t>
            </a:r>
          </a:p>
        </p:txBody>
      </p:sp>
      <p:sp>
        <p:nvSpPr>
          <p:cNvPr id="15" name="TextBox 14"/>
          <p:cNvSpPr txBox="1"/>
          <p:nvPr/>
        </p:nvSpPr>
        <p:spPr>
          <a:xfrm>
            <a:off x="731520" y="4754880"/>
            <a:ext cx="10972800" cy="1097280"/>
          </a:xfrm>
          <a:prstGeom prst="rect">
            <a:avLst/>
          </a:prstGeom>
          <a:noFill/>
        </p:spPr>
        <p:txBody>
          <a:bodyPr wrap="square">
            <a:spAutoFit/>
          </a:bodyPr>
          <a:lstStyle/>
          <a:p>
            <a:pPr algn="ctr">
              <a:defRPr sz="1400" b="0">
                <a:solidFill>
                  <a:srgbClr val="C9A84C"/>
                </a:solidFill>
                <a:latin typeface="Arial"/>
              </a:defRPr>
            </a:pPr>
            <a:r>
              <a:t>"Stop trying to be the whole contract. Be a line item." — Eric Coffie</a:t>
            </a:r>
            <a:br/>
            <a:r>
              <a:t>A solo HVAC tech can join a maintenance contract. A one-truck cleaner can land a facilities line.</a:t>
            </a:r>
            <a:br/>
            <a:r>
              <a:t>Line items → cash flow → credibility → past performance → contracts.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defRPr sz="3600" b="1">
                <a:solidFill>
                  <a:srgbClr val="FFFFFF"/>
                </a:solidFill>
                <a:latin typeface="Arial"/>
              </a:defRPr>
            </a:pPr>
            <a:r>
              <a:t>Open Questions for Discussion</a:t>
            </a:r>
          </a:p>
        </p:txBody>
      </p:sp>
      <p:sp>
        <p:nvSpPr>
          <p:cNvPr id="3" name="Rounded Rectangle 2"/>
          <p:cNvSpPr/>
          <p:nvPr/>
        </p:nvSpPr>
        <p:spPr>
          <a:xfrm>
            <a:off x="457200" y="1280160"/>
            <a:ext cx="5486400" cy="146304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20640" cy="365760"/>
          </a:xfrm>
          <a:prstGeom prst="rect">
            <a:avLst/>
          </a:prstGeom>
          <a:noFill/>
        </p:spPr>
        <p:txBody>
          <a:bodyPr wrap="square">
            <a:spAutoFit/>
          </a:bodyPr>
          <a:lstStyle/>
          <a:p>
            <a:pPr algn="l">
              <a:defRPr sz="1600" b="1">
                <a:solidFill>
                  <a:srgbClr val="C9A84C"/>
                </a:solidFill>
                <a:latin typeface="Arial"/>
              </a:defRPr>
            </a:pPr>
            <a:r>
              <a:t>1. Triage &amp; Pipeline</a:t>
            </a:r>
          </a:p>
        </p:txBody>
      </p:sp>
      <p:sp>
        <p:nvSpPr>
          <p:cNvPr id="5" name="TextBox 4"/>
          <p:cNvSpPr txBox="1"/>
          <p:nvPr/>
        </p:nvSpPr>
        <p:spPr>
          <a:xfrm>
            <a:off x="640080" y="1737360"/>
            <a:ext cx="5120640" cy="822960"/>
          </a:xfrm>
          <a:prstGeom prst="rect">
            <a:avLst/>
          </a:prstGeom>
          <a:noFill/>
        </p:spPr>
        <p:txBody>
          <a:bodyPr wrap="square">
            <a:spAutoFit/>
          </a:bodyPr>
          <a:lstStyle/>
          <a:p>
            <a:pPr algn="l">
              <a:defRPr sz="1200" b="0">
                <a:solidFill>
                  <a:srgbClr val="B0B4C0"/>
                </a:solidFill>
                <a:latin typeface="Arial"/>
              </a:defRPr>
            </a:pPr>
            <a:r>
              <a:t>Automated bulk import + AI triage, or lean manual triage of a highly refined daily feed?</a:t>
            </a:r>
          </a:p>
        </p:txBody>
      </p:sp>
      <p:sp>
        <p:nvSpPr>
          <p:cNvPr id="6" name="Rounded Rectangle 5"/>
          <p:cNvSpPr/>
          <p:nvPr/>
        </p:nvSpPr>
        <p:spPr>
          <a:xfrm>
            <a:off x="6309360" y="1280160"/>
            <a:ext cx="5486400" cy="146304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371600"/>
            <a:ext cx="5120640" cy="365760"/>
          </a:xfrm>
          <a:prstGeom prst="rect">
            <a:avLst/>
          </a:prstGeom>
          <a:noFill/>
        </p:spPr>
        <p:txBody>
          <a:bodyPr wrap="square">
            <a:spAutoFit/>
          </a:bodyPr>
          <a:lstStyle/>
          <a:p>
            <a:pPr algn="l">
              <a:defRPr sz="1600" b="1">
                <a:solidFill>
                  <a:srgbClr val="C9A84C"/>
                </a:solidFill>
                <a:latin typeface="Arial"/>
              </a:defRPr>
            </a:pPr>
            <a:r>
              <a:t>2. Subcontractor Network</a:t>
            </a:r>
          </a:p>
        </p:txBody>
      </p:sp>
      <p:sp>
        <p:nvSpPr>
          <p:cNvPr id="8" name="TextBox 7"/>
          <p:cNvSpPr txBox="1"/>
          <p:nvPr/>
        </p:nvSpPr>
        <p:spPr>
          <a:xfrm>
            <a:off x="6492240" y="1737360"/>
            <a:ext cx="5120640" cy="822960"/>
          </a:xfrm>
          <a:prstGeom prst="rect">
            <a:avLst/>
          </a:prstGeom>
          <a:noFill/>
        </p:spPr>
        <p:txBody>
          <a:bodyPr wrap="square">
            <a:spAutoFit/>
          </a:bodyPr>
          <a:lstStyle/>
          <a:p>
            <a:pPr algn="l">
              <a:defRPr sz="1200" b="0">
                <a:solidFill>
                  <a:srgbClr val="B0B4C0"/>
                </a:solidFill>
                <a:latin typeface="Arial"/>
              </a:defRPr>
            </a:pPr>
            <a:r>
              <a:t>What process to recruit, vet, and lock in quotes from local subs before submitting bids?</a:t>
            </a:r>
          </a:p>
        </p:txBody>
      </p:sp>
      <p:sp>
        <p:nvSpPr>
          <p:cNvPr id="9" name="Rounded Rectangle 8"/>
          <p:cNvSpPr/>
          <p:nvPr/>
        </p:nvSpPr>
        <p:spPr>
          <a:xfrm>
            <a:off x="457200" y="2926080"/>
            <a:ext cx="5486400" cy="146304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5120640" cy="365760"/>
          </a:xfrm>
          <a:prstGeom prst="rect">
            <a:avLst/>
          </a:prstGeom>
          <a:noFill/>
        </p:spPr>
        <p:txBody>
          <a:bodyPr wrap="square">
            <a:spAutoFit/>
          </a:bodyPr>
          <a:lstStyle/>
          <a:p>
            <a:pPr algn="l">
              <a:defRPr sz="1600" b="1">
                <a:solidFill>
                  <a:srgbClr val="C9A84C"/>
                </a:solidFill>
                <a:latin typeface="Arial"/>
              </a:defRPr>
            </a:pPr>
            <a:r>
              <a:t>3. Vendor Credit Lines</a:t>
            </a:r>
          </a:p>
        </p:txBody>
      </p:sp>
      <p:sp>
        <p:nvSpPr>
          <p:cNvPr id="11" name="TextBox 10"/>
          <p:cNvSpPr txBox="1"/>
          <p:nvPr/>
        </p:nvSpPr>
        <p:spPr>
          <a:xfrm>
            <a:off x="640080" y="3383280"/>
            <a:ext cx="5120640" cy="822960"/>
          </a:xfrm>
          <a:prstGeom prst="rect">
            <a:avLst/>
          </a:prstGeom>
          <a:noFill/>
        </p:spPr>
        <p:txBody>
          <a:bodyPr wrap="square">
            <a:spAutoFit/>
          </a:bodyPr>
          <a:lstStyle/>
          <a:p>
            <a:pPr algn="l">
              <a:defRPr sz="1200" b="0">
                <a:solidFill>
                  <a:srgbClr val="B0B4C0"/>
                </a:solidFill>
                <a:latin typeface="Arial"/>
              </a:defRPr>
            </a:pPr>
            <a:r>
              <a:t>Who takes point on establishing Net-30/Net-45 trade credit with suppliers?</a:t>
            </a:r>
          </a:p>
        </p:txBody>
      </p:sp>
      <p:sp>
        <p:nvSpPr>
          <p:cNvPr id="12" name="Rounded Rectangle 11"/>
          <p:cNvSpPr/>
          <p:nvPr/>
        </p:nvSpPr>
        <p:spPr>
          <a:xfrm>
            <a:off x="6309360" y="2926080"/>
            <a:ext cx="5486400" cy="146304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3017520"/>
            <a:ext cx="5120640" cy="365760"/>
          </a:xfrm>
          <a:prstGeom prst="rect">
            <a:avLst/>
          </a:prstGeom>
          <a:noFill/>
        </p:spPr>
        <p:txBody>
          <a:bodyPr wrap="square">
            <a:spAutoFit/>
          </a:bodyPr>
          <a:lstStyle/>
          <a:p>
            <a:pPr algn="l">
              <a:defRPr sz="1600" b="1">
                <a:solidFill>
                  <a:srgbClr val="C9A84C"/>
                </a:solidFill>
                <a:latin typeface="Arial"/>
              </a:defRPr>
            </a:pPr>
            <a:r>
              <a:t>4. Real Estate Partnership</a:t>
            </a:r>
          </a:p>
        </p:txBody>
      </p:sp>
      <p:sp>
        <p:nvSpPr>
          <p:cNvPr id="14" name="TextBox 13"/>
          <p:cNvSpPr txBox="1"/>
          <p:nvPr/>
        </p:nvSpPr>
        <p:spPr>
          <a:xfrm>
            <a:off x="6492240" y="3383280"/>
            <a:ext cx="5120640" cy="822960"/>
          </a:xfrm>
          <a:prstGeom prst="rect">
            <a:avLst/>
          </a:prstGeom>
          <a:noFill/>
        </p:spPr>
        <p:txBody>
          <a:bodyPr wrap="square">
            <a:spAutoFit/>
          </a:bodyPr>
          <a:lstStyle/>
          <a:p>
            <a:pPr algn="l">
              <a:defRPr sz="1200" b="0">
                <a:solidFill>
                  <a:srgbClr val="B0B4C0"/>
                </a:solidFill>
                <a:latin typeface="Arial"/>
              </a:defRPr>
            </a:pPr>
            <a:r>
              <a:t>Protocol, timeline, and fee-sharing for property lease solicitations?</a:t>
            </a:r>
          </a:p>
        </p:txBody>
      </p:sp>
      <p:sp>
        <p:nvSpPr>
          <p:cNvPr id="15" name="Rounded Rectangle 14"/>
          <p:cNvSpPr/>
          <p:nvPr/>
        </p:nvSpPr>
        <p:spPr>
          <a:xfrm>
            <a:off x="457200" y="4572000"/>
            <a:ext cx="5486400" cy="146304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663440"/>
            <a:ext cx="5120640" cy="365760"/>
          </a:xfrm>
          <a:prstGeom prst="rect">
            <a:avLst/>
          </a:prstGeom>
          <a:noFill/>
        </p:spPr>
        <p:txBody>
          <a:bodyPr wrap="square">
            <a:spAutoFit/>
          </a:bodyPr>
          <a:lstStyle/>
          <a:p>
            <a:pPr algn="l">
              <a:defRPr sz="1600" b="1">
                <a:solidFill>
                  <a:srgbClr val="C9A84C"/>
                </a:solidFill>
                <a:latin typeface="Arial"/>
              </a:defRPr>
            </a:pPr>
            <a:r>
              <a:t>5. Capacity &amp; Bottlenecks</a:t>
            </a:r>
          </a:p>
        </p:txBody>
      </p:sp>
      <p:sp>
        <p:nvSpPr>
          <p:cNvPr id="17" name="TextBox 16"/>
          <p:cNvSpPr txBox="1"/>
          <p:nvPr/>
        </p:nvSpPr>
        <p:spPr>
          <a:xfrm>
            <a:off x="640080" y="5029200"/>
            <a:ext cx="5120640" cy="822960"/>
          </a:xfrm>
          <a:prstGeom prst="rect">
            <a:avLst/>
          </a:prstGeom>
          <a:noFill/>
        </p:spPr>
        <p:txBody>
          <a:bodyPr wrap="square">
            <a:spAutoFit/>
          </a:bodyPr>
          <a:lstStyle/>
          <a:p>
            <a:pPr algn="l">
              <a:defRPr sz="1200" b="0">
                <a:solidFill>
                  <a:srgbClr val="B0B4C0"/>
                </a:solidFill>
                <a:latin typeface="Arial"/>
              </a:defRPr>
            </a:pPr>
            <a:r>
              <a:t>What's currently stopping us from submitting a consistent number of bids per week?</a:t>
            </a:r>
          </a:p>
        </p:txBody>
      </p:sp>
      <p:sp>
        <p:nvSpPr>
          <p:cNvPr id="18" name="Rounded Rectangle 17"/>
          <p:cNvSpPr/>
          <p:nvPr/>
        </p:nvSpPr>
        <p:spPr>
          <a:xfrm>
            <a:off x="6309360" y="4572000"/>
            <a:ext cx="5486400" cy="146304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663440"/>
            <a:ext cx="5120640" cy="365760"/>
          </a:xfrm>
          <a:prstGeom prst="rect">
            <a:avLst/>
          </a:prstGeom>
          <a:noFill/>
        </p:spPr>
        <p:txBody>
          <a:bodyPr wrap="square">
            <a:spAutoFit/>
          </a:bodyPr>
          <a:lstStyle/>
          <a:p>
            <a:pPr algn="l">
              <a:defRPr sz="1600" b="1">
                <a:solidFill>
                  <a:srgbClr val="C9A84C"/>
                </a:solidFill>
                <a:latin typeface="Arial"/>
              </a:defRPr>
            </a:pPr>
            <a:r>
              <a:t>6. Over $150K Strategy</a:t>
            </a:r>
          </a:p>
        </p:txBody>
      </p:sp>
      <p:sp>
        <p:nvSpPr>
          <p:cNvPr id="20" name="TextBox 19"/>
          <p:cNvSpPr txBox="1"/>
          <p:nvPr/>
        </p:nvSpPr>
        <p:spPr>
          <a:xfrm>
            <a:off x="6492240" y="5029200"/>
            <a:ext cx="5120640" cy="822960"/>
          </a:xfrm>
          <a:prstGeom prst="rect">
            <a:avLst/>
          </a:prstGeom>
          <a:noFill/>
        </p:spPr>
        <p:txBody>
          <a:bodyPr wrap="square">
            <a:spAutoFit/>
          </a:bodyPr>
          <a:lstStyle/>
          <a:p>
            <a:pPr algn="l">
              <a:defRPr sz="1200" b="0">
                <a:solidFill>
                  <a:srgbClr val="B0B4C0"/>
                </a:solidFill>
                <a:latin typeface="Arial"/>
              </a:defRPr>
            </a:pPr>
            <a:r>
              <a:t>Which established contractors can we partner with for bonding and past performance?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defRPr sz="3600" b="1">
                <a:solidFill>
                  <a:srgbClr val="FFFFFF"/>
                </a:solidFill>
                <a:latin typeface="Arial"/>
              </a:defRPr>
            </a:pPr>
            <a:r>
              <a:t>The Roadmap</a:t>
            </a:r>
          </a:p>
        </p:txBody>
      </p:sp>
      <p:sp>
        <p:nvSpPr>
          <p:cNvPr id="3" name="Rounded Rectangle 2"/>
          <p:cNvSpPr/>
          <p:nvPr/>
        </p:nvSpPr>
        <p:spPr>
          <a:xfrm>
            <a:off x="457200" y="1371600"/>
            <a:ext cx="3611880" cy="45720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3246120" cy="365760"/>
          </a:xfrm>
          <a:prstGeom prst="rect">
            <a:avLst/>
          </a:prstGeom>
          <a:noFill/>
        </p:spPr>
        <p:txBody>
          <a:bodyPr wrap="square">
            <a:spAutoFit/>
          </a:bodyPr>
          <a:lstStyle/>
          <a:p>
            <a:pPr algn="l">
              <a:defRPr sz="2000" b="1">
                <a:solidFill>
                  <a:srgbClr val="C9A84C"/>
                </a:solidFill>
                <a:latin typeface="Arial"/>
              </a:defRPr>
            </a:pPr>
            <a:r>
              <a:t>Stage 1 · Launch</a:t>
            </a:r>
          </a:p>
        </p:txBody>
      </p:sp>
      <p:sp>
        <p:nvSpPr>
          <p:cNvPr id="5" name="TextBox 4"/>
          <p:cNvSpPr txBox="1"/>
          <p:nvPr/>
        </p:nvSpPr>
        <p:spPr>
          <a:xfrm>
            <a:off x="640080" y="1828800"/>
            <a:ext cx="3246120" cy="274320"/>
          </a:xfrm>
          <a:prstGeom prst="rect">
            <a:avLst/>
          </a:prstGeom>
          <a:noFill/>
        </p:spPr>
        <p:txBody>
          <a:bodyPr wrap="square">
            <a:spAutoFit/>
          </a:bodyPr>
          <a:lstStyle/>
          <a:p>
            <a:pPr algn="l">
              <a:defRPr sz="1100" b="0">
                <a:solidFill>
                  <a:srgbClr val="6B7080"/>
                </a:solidFill>
                <a:latin typeface="Arial"/>
              </a:defRPr>
            </a:pPr>
            <a:r>
              <a:t>NOW</a:t>
            </a:r>
          </a:p>
        </p:txBody>
      </p:sp>
      <p:sp>
        <p:nvSpPr>
          <p:cNvPr id="6" name="TextBox 5"/>
          <p:cNvSpPr txBox="1"/>
          <p:nvPr/>
        </p:nvSpPr>
        <p:spPr>
          <a:xfrm>
            <a:off x="640080" y="2286000"/>
            <a:ext cx="3246120" cy="365760"/>
          </a:xfrm>
          <a:prstGeom prst="rect">
            <a:avLst/>
          </a:prstGeom>
          <a:noFill/>
        </p:spPr>
        <p:txBody>
          <a:bodyPr wrap="square">
            <a:spAutoFit/>
          </a:bodyPr>
          <a:lstStyle/>
          <a:p>
            <a:pPr algn="l">
              <a:defRPr sz="1200" b="0">
                <a:solidFill>
                  <a:srgbClr val="B0B4C0"/>
                </a:solidFill>
                <a:latin typeface="Arial"/>
              </a:defRPr>
            </a:pPr>
            <a:r>
              <a:t>• Sourcing pipelines (SAM + USASpending) ✅</a:t>
            </a:r>
          </a:p>
        </p:txBody>
      </p:sp>
      <p:sp>
        <p:nvSpPr>
          <p:cNvPr id="7" name="TextBox 6"/>
          <p:cNvSpPr txBox="1"/>
          <p:nvPr/>
        </p:nvSpPr>
        <p:spPr>
          <a:xfrm>
            <a:off x="640080" y="2743200"/>
            <a:ext cx="3246120" cy="365760"/>
          </a:xfrm>
          <a:prstGeom prst="rect">
            <a:avLst/>
          </a:prstGeom>
          <a:noFill/>
        </p:spPr>
        <p:txBody>
          <a:bodyPr wrap="square">
            <a:spAutoFit/>
          </a:bodyPr>
          <a:lstStyle/>
          <a:p>
            <a:pPr algn="l">
              <a:defRPr sz="1200" b="0">
                <a:solidFill>
                  <a:srgbClr val="B0B4C0"/>
                </a:solidFill>
                <a:latin typeface="Arial"/>
              </a:defRPr>
            </a:pPr>
            <a:r>
              <a:t>• AI triage &amp; classification</a:t>
            </a:r>
          </a:p>
        </p:txBody>
      </p:sp>
      <p:sp>
        <p:nvSpPr>
          <p:cNvPr id="8" name="TextBox 7"/>
          <p:cNvSpPr txBox="1"/>
          <p:nvPr/>
        </p:nvSpPr>
        <p:spPr>
          <a:xfrm>
            <a:off x="640080" y="3200400"/>
            <a:ext cx="3246120" cy="365760"/>
          </a:xfrm>
          <a:prstGeom prst="rect">
            <a:avLst/>
          </a:prstGeom>
          <a:noFill/>
        </p:spPr>
        <p:txBody>
          <a:bodyPr wrap="square">
            <a:spAutoFit/>
          </a:bodyPr>
          <a:lstStyle/>
          <a:p>
            <a:pPr algn="l">
              <a:defRPr sz="1200" b="0">
                <a:solidFill>
                  <a:srgbClr val="B0B4C0"/>
                </a:solidFill>
                <a:latin typeface="Arial"/>
              </a:defRPr>
            </a:pPr>
            <a:r>
              <a:t>• Vendor matching</a:t>
            </a:r>
          </a:p>
        </p:txBody>
      </p:sp>
      <p:sp>
        <p:nvSpPr>
          <p:cNvPr id="9" name="TextBox 8"/>
          <p:cNvSpPr txBox="1"/>
          <p:nvPr/>
        </p:nvSpPr>
        <p:spPr>
          <a:xfrm>
            <a:off x="640080" y="3657600"/>
            <a:ext cx="3246120" cy="365760"/>
          </a:xfrm>
          <a:prstGeom prst="rect">
            <a:avLst/>
          </a:prstGeom>
          <a:noFill/>
        </p:spPr>
        <p:txBody>
          <a:bodyPr wrap="square">
            <a:spAutoFit/>
          </a:bodyPr>
          <a:lstStyle/>
          <a:p>
            <a:pPr algn="l">
              <a:defRPr sz="1200" b="0">
                <a:solidFill>
                  <a:srgbClr val="B0B4C0"/>
                </a:solidFill>
                <a:latin typeface="Arial"/>
              </a:defRPr>
            </a:pPr>
            <a:r>
              <a:t>• Automated responses</a:t>
            </a:r>
          </a:p>
        </p:txBody>
      </p:sp>
      <p:sp>
        <p:nvSpPr>
          <p:cNvPr id="10" name="TextBox 9"/>
          <p:cNvSpPr txBox="1"/>
          <p:nvPr/>
        </p:nvSpPr>
        <p:spPr>
          <a:xfrm>
            <a:off x="640080" y="5212080"/>
            <a:ext cx="3246120" cy="457200"/>
          </a:xfrm>
          <a:prstGeom prst="rect">
            <a:avLst/>
          </a:prstGeom>
          <a:noFill/>
        </p:spPr>
        <p:txBody>
          <a:bodyPr wrap="square">
            <a:spAutoFit/>
          </a:bodyPr>
          <a:lstStyle/>
          <a:p>
            <a:pPr algn="l">
              <a:defRPr sz="1100" b="0">
                <a:solidFill>
                  <a:srgbClr val="6B7080"/>
                </a:solidFill>
                <a:latin typeface="Arial"/>
              </a:defRPr>
            </a:pPr>
            <a:r>
              <a:t>Win our first construction set-aside contracts</a:t>
            </a:r>
          </a:p>
        </p:txBody>
      </p:sp>
      <p:sp>
        <p:nvSpPr>
          <p:cNvPr id="11" name="Rounded Rectangle 10"/>
          <p:cNvSpPr/>
          <p:nvPr/>
        </p:nvSpPr>
        <p:spPr>
          <a:xfrm>
            <a:off x="4343400" y="1371600"/>
            <a:ext cx="3611880" cy="45720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463040"/>
            <a:ext cx="3246120" cy="365760"/>
          </a:xfrm>
          <a:prstGeom prst="rect">
            <a:avLst/>
          </a:prstGeom>
          <a:noFill/>
        </p:spPr>
        <p:txBody>
          <a:bodyPr wrap="square">
            <a:spAutoFit/>
          </a:bodyPr>
          <a:lstStyle/>
          <a:p>
            <a:pPr algn="l">
              <a:defRPr sz="2000" b="1">
                <a:solidFill>
                  <a:srgbClr val="C9A84C"/>
                </a:solidFill>
                <a:latin typeface="Arial"/>
              </a:defRPr>
            </a:pPr>
            <a:r>
              <a:t>Stage 2 · Growth</a:t>
            </a:r>
          </a:p>
        </p:txBody>
      </p:sp>
      <p:sp>
        <p:nvSpPr>
          <p:cNvPr id="13" name="TextBox 12"/>
          <p:cNvSpPr txBox="1"/>
          <p:nvPr/>
        </p:nvSpPr>
        <p:spPr>
          <a:xfrm>
            <a:off x="4526280" y="2286000"/>
            <a:ext cx="3246120" cy="365760"/>
          </a:xfrm>
          <a:prstGeom prst="rect">
            <a:avLst/>
          </a:prstGeom>
          <a:noFill/>
        </p:spPr>
        <p:txBody>
          <a:bodyPr wrap="square">
            <a:spAutoFit/>
          </a:bodyPr>
          <a:lstStyle/>
          <a:p>
            <a:pPr algn="l">
              <a:defRPr sz="1200" b="0">
                <a:solidFill>
                  <a:srgbClr val="B0B4C0"/>
                </a:solidFill>
                <a:latin typeface="Arial"/>
              </a:defRPr>
            </a:pPr>
            <a:r>
              <a:t>• Subcontractor portal (self-service)</a:t>
            </a:r>
          </a:p>
        </p:txBody>
      </p:sp>
      <p:sp>
        <p:nvSpPr>
          <p:cNvPr id="14" name="TextBox 13"/>
          <p:cNvSpPr txBox="1"/>
          <p:nvPr/>
        </p:nvSpPr>
        <p:spPr>
          <a:xfrm>
            <a:off x="4526280" y="2743200"/>
            <a:ext cx="3246120" cy="365760"/>
          </a:xfrm>
          <a:prstGeom prst="rect">
            <a:avLst/>
          </a:prstGeom>
          <a:noFill/>
        </p:spPr>
        <p:txBody>
          <a:bodyPr wrap="square">
            <a:spAutoFit/>
          </a:bodyPr>
          <a:lstStyle/>
          <a:p>
            <a:pPr algn="l">
              <a:defRPr sz="1200" b="0">
                <a:solidFill>
                  <a:srgbClr val="B0B4C0"/>
                </a:solidFill>
                <a:latin typeface="Arial"/>
              </a:defRPr>
            </a:pPr>
            <a:r>
              <a:t>• Credential management &amp; expiry tracking</a:t>
            </a:r>
          </a:p>
        </p:txBody>
      </p:sp>
      <p:sp>
        <p:nvSpPr>
          <p:cNvPr id="15" name="TextBox 14"/>
          <p:cNvSpPr txBox="1"/>
          <p:nvPr/>
        </p:nvSpPr>
        <p:spPr>
          <a:xfrm>
            <a:off x="4526280" y="3200400"/>
            <a:ext cx="3246120" cy="365760"/>
          </a:xfrm>
          <a:prstGeom prst="rect">
            <a:avLst/>
          </a:prstGeom>
          <a:noFill/>
        </p:spPr>
        <p:txBody>
          <a:bodyPr wrap="square">
            <a:spAutoFit/>
          </a:bodyPr>
          <a:lstStyle/>
          <a:p>
            <a:pPr algn="l">
              <a:defRPr sz="1200" b="0">
                <a:solidFill>
                  <a:srgbClr val="B0B4C0"/>
                </a:solidFill>
                <a:latin typeface="Arial"/>
              </a:defRPr>
            </a:pPr>
            <a:r>
              <a:t>• Award tracking &amp; contract management</a:t>
            </a:r>
          </a:p>
        </p:txBody>
      </p:sp>
      <p:sp>
        <p:nvSpPr>
          <p:cNvPr id="16" name="TextBox 15"/>
          <p:cNvSpPr txBox="1"/>
          <p:nvPr/>
        </p:nvSpPr>
        <p:spPr>
          <a:xfrm>
            <a:off x="4526280" y="3657600"/>
            <a:ext cx="3246120" cy="365760"/>
          </a:xfrm>
          <a:prstGeom prst="rect">
            <a:avLst/>
          </a:prstGeom>
          <a:noFill/>
        </p:spPr>
        <p:txBody>
          <a:bodyPr wrap="square">
            <a:spAutoFit/>
          </a:bodyPr>
          <a:lstStyle/>
          <a:p>
            <a:pPr algn="l">
              <a:defRPr sz="1200" b="0">
                <a:solidFill>
                  <a:srgbClr val="B0B4C0"/>
                </a:solidFill>
                <a:latin typeface="Arial"/>
              </a:defRPr>
            </a:pPr>
            <a:r>
              <a:t>• More subs, more bids, repeat wins</a:t>
            </a:r>
          </a:p>
        </p:txBody>
      </p:sp>
      <p:sp>
        <p:nvSpPr>
          <p:cNvPr id="17" name="Rounded Rectangle 16"/>
          <p:cNvSpPr/>
          <p:nvPr/>
        </p:nvSpPr>
        <p:spPr>
          <a:xfrm>
            <a:off x="8229600" y="1371600"/>
            <a:ext cx="3611880" cy="4572000"/>
          </a:xfrm>
          <a:prstGeom prst="roundRect">
            <a:avLst/>
          </a:prstGeom>
          <a:solidFill>
            <a:srgbClr val="1A1D28"/>
          </a:solidFill>
          <a:ln w="12700">
            <a:solidFill>
              <a:srgbClr val="2A2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1463040"/>
            <a:ext cx="3246120" cy="365760"/>
          </a:xfrm>
          <a:prstGeom prst="rect">
            <a:avLst/>
          </a:prstGeom>
          <a:noFill/>
        </p:spPr>
        <p:txBody>
          <a:bodyPr wrap="square">
            <a:spAutoFit/>
          </a:bodyPr>
          <a:lstStyle/>
          <a:p>
            <a:pPr algn="l">
              <a:defRPr sz="2000" b="1">
                <a:solidFill>
                  <a:srgbClr val="C9A84C"/>
                </a:solidFill>
                <a:latin typeface="Arial"/>
              </a:defRPr>
            </a:pPr>
            <a:r>
              <a:t>Stage 3 · Scale</a:t>
            </a:r>
          </a:p>
        </p:txBody>
      </p:sp>
      <p:sp>
        <p:nvSpPr>
          <p:cNvPr id="19" name="TextBox 18"/>
          <p:cNvSpPr txBox="1"/>
          <p:nvPr/>
        </p:nvSpPr>
        <p:spPr>
          <a:xfrm>
            <a:off x="8412480" y="2286000"/>
            <a:ext cx="3246120" cy="365760"/>
          </a:xfrm>
          <a:prstGeom prst="rect">
            <a:avLst/>
          </a:prstGeom>
          <a:noFill/>
        </p:spPr>
        <p:txBody>
          <a:bodyPr wrap="square">
            <a:spAutoFit/>
          </a:bodyPr>
          <a:lstStyle/>
          <a:p>
            <a:pPr algn="l">
              <a:defRPr sz="1200" b="0">
                <a:solidFill>
                  <a:srgbClr val="B0B4C0"/>
                </a:solidFill>
                <a:latin typeface="Arial"/>
              </a:defRPr>
            </a:pPr>
            <a:r>
              <a:t>• Finance automation</a:t>
            </a:r>
          </a:p>
        </p:txBody>
      </p:sp>
      <p:sp>
        <p:nvSpPr>
          <p:cNvPr id="20" name="TextBox 19"/>
          <p:cNvSpPr txBox="1"/>
          <p:nvPr/>
        </p:nvSpPr>
        <p:spPr>
          <a:xfrm>
            <a:off x="8412480" y="2743200"/>
            <a:ext cx="3246120" cy="365760"/>
          </a:xfrm>
          <a:prstGeom prst="rect">
            <a:avLst/>
          </a:prstGeom>
          <a:noFill/>
        </p:spPr>
        <p:txBody>
          <a:bodyPr wrap="square">
            <a:spAutoFit/>
          </a:bodyPr>
          <a:lstStyle/>
          <a:p>
            <a:pPr algn="l">
              <a:defRPr sz="1200" b="0">
                <a:solidFill>
                  <a:srgbClr val="B0B4C0"/>
                </a:solidFill>
                <a:latin typeface="Arial"/>
              </a:defRPr>
            </a:pPr>
            <a:r>
              <a:t>• Milestone tracking</a:t>
            </a:r>
          </a:p>
        </p:txBody>
      </p:sp>
      <p:sp>
        <p:nvSpPr>
          <p:cNvPr id="21" name="TextBox 20"/>
          <p:cNvSpPr txBox="1"/>
          <p:nvPr/>
        </p:nvSpPr>
        <p:spPr>
          <a:xfrm>
            <a:off x="8412480" y="3200400"/>
            <a:ext cx="3246120" cy="365760"/>
          </a:xfrm>
          <a:prstGeom prst="rect">
            <a:avLst/>
          </a:prstGeom>
          <a:noFill/>
        </p:spPr>
        <p:txBody>
          <a:bodyPr wrap="square">
            <a:spAutoFit/>
          </a:bodyPr>
          <a:lstStyle/>
          <a:p>
            <a:pPr algn="l">
              <a:defRPr sz="1200" b="0">
                <a:solidFill>
                  <a:srgbClr val="B0B4C0"/>
                </a:solidFill>
                <a:latin typeface="Arial"/>
              </a:defRPr>
            </a:pPr>
            <a:r>
              <a:t>• New markets: IT, services, product supply, real estate</a:t>
            </a:r>
          </a:p>
        </p:txBody>
      </p:sp>
      <p:sp>
        <p:nvSpPr>
          <p:cNvPr id="22" name="TextBox 21"/>
          <p:cNvSpPr txBox="1"/>
          <p:nvPr/>
        </p:nvSpPr>
        <p:spPr>
          <a:xfrm>
            <a:off x="8412480" y="3657600"/>
            <a:ext cx="3246120" cy="365760"/>
          </a:xfrm>
          <a:prstGeom prst="rect">
            <a:avLst/>
          </a:prstGeom>
          <a:noFill/>
        </p:spPr>
        <p:txBody>
          <a:bodyPr wrap="square">
            <a:spAutoFit/>
          </a:bodyPr>
          <a:lstStyle/>
          <a:p>
            <a:pPr algn="l">
              <a:defRPr sz="1200" b="0">
                <a:solidFill>
                  <a:srgbClr val="B0B4C0"/>
                </a:solidFill>
                <a:latin typeface="Arial"/>
              </a:defRPr>
            </a:pPr>
            <a:r>
              <a:t>• A self-running contracting business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0" y="1371600"/>
            <a:ext cx="12191695" cy="914400"/>
          </a:xfrm>
          <a:prstGeom prst="rect">
            <a:avLst/>
          </a:prstGeom>
          <a:noFill/>
        </p:spPr>
        <p:txBody>
          <a:bodyPr wrap="square">
            <a:spAutoFit/>
          </a:bodyPr>
          <a:lstStyle/>
          <a:p>
            <a:pPr algn="ctr">
              <a:defRPr sz="4200" b="1">
                <a:solidFill>
                  <a:srgbClr val="FFFFFF"/>
                </a:solidFill>
                <a:latin typeface="Arial"/>
              </a:defRPr>
            </a:pPr>
            <a:r>
              <a:t>The Government Wants to Buy</a:t>
            </a:r>
            <a:br/>
            <a:r>
              <a:t>From Small Business</a:t>
            </a:r>
          </a:p>
        </p:txBody>
      </p:sp>
      <p:sp>
        <p:nvSpPr>
          <p:cNvPr id="3" name="TextBox 2"/>
          <p:cNvSpPr txBox="1"/>
          <p:nvPr/>
        </p:nvSpPr>
        <p:spPr>
          <a:xfrm>
            <a:off x="0" y="2560320"/>
            <a:ext cx="12191695" cy="457200"/>
          </a:xfrm>
          <a:prstGeom prst="rect">
            <a:avLst/>
          </a:prstGeom>
          <a:noFill/>
        </p:spPr>
        <p:txBody>
          <a:bodyPr wrap="square">
            <a:spAutoFit/>
          </a:bodyPr>
          <a:lstStyle/>
          <a:p>
            <a:pPr algn="ctr">
              <a:defRPr sz="2000" b="0">
                <a:solidFill>
                  <a:srgbClr val="6B7080"/>
                </a:solidFill>
                <a:latin typeface="Arial"/>
              </a:defRPr>
            </a:pPr>
            <a:r>
              <a:t>The only real barrier is process. We remove the process.</a:t>
            </a:r>
          </a:p>
        </p:txBody>
      </p:sp>
      <p:sp>
        <p:nvSpPr>
          <p:cNvPr id="4" name="TextBox 3"/>
          <p:cNvSpPr txBox="1"/>
          <p:nvPr/>
        </p:nvSpPr>
        <p:spPr>
          <a:xfrm>
            <a:off x="2926080" y="3474720"/>
            <a:ext cx="1645920" cy="548640"/>
          </a:xfrm>
          <a:prstGeom prst="rect">
            <a:avLst/>
          </a:prstGeom>
          <a:noFill/>
        </p:spPr>
        <p:txBody>
          <a:bodyPr wrap="square">
            <a:spAutoFit/>
          </a:bodyPr>
          <a:lstStyle/>
          <a:p>
            <a:pPr algn="ctr">
              <a:defRPr sz="3600" b="1">
                <a:solidFill>
                  <a:srgbClr val="C9A84C"/>
                </a:solidFill>
                <a:latin typeface="Arial"/>
              </a:defRPr>
            </a:pPr>
            <a:r>
              <a:t>$100K–$150K+</a:t>
            </a:r>
          </a:p>
        </p:txBody>
      </p:sp>
      <p:sp>
        <p:nvSpPr>
          <p:cNvPr id="5" name="TextBox 4"/>
          <p:cNvSpPr txBox="1"/>
          <p:nvPr/>
        </p:nvSpPr>
        <p:spPr>
          <a:xfrm>
            <a:off x="2926080" y="3977639"/>
            <a:ext cx="1645920" cy="365760"/>
          </a:xfrm>
          <a:prstGeom prst="rect">
            <a:avLst/>
          </a:prstGeom>
          <a:noFill/>
        </p:spPr>
        <p:txBody>
          <a:bodyPr wrap="square">
            <a:spAutoFit/>
          </a:bodyPr>
          <a:lstStyle/>
          <a:p>
            <a:pPr algn="ctr">
              <a:defRPr sz="1100" b="0">
                <a:solidFill>
                  <a:srgbClr val="6B7080"/>
                </a:solidFill>
                <a:latin typeface="Arial"/>
              </a:defRPr>
            </a:pPr>
            <a:r>
              <a:t>sweet spot per contract</a:t>
            </a:r>
          </a:p>
        </p:txBody>
      </p:sp>
      <p:sp>
        <p:nvSpPr>
          <p:cNvPr id="6" name="TextBox 5"/>
          <p:cNvSpPr txBox="1"/>
          <p:nvPr/>
        </p:nvSpPr>
        <p:spPr>
          <a:xfrm>
            <a:off x="5212080" y="3474720"/>
            <a:ext cx="1645920" cy="548640"/>
          </a:xfrm>
          <a:prstGeom prst="rect">
            <a:avLst/>
          </a:prstGeom>
          <a:noFill/>
        </p:spPr>
        <p:txBody>
          <a:bodyPr wrap="square">
            <a:spAutoFit/>
          </a:bodyPr>
          <a:lstStyle/>
          <a:p>
            <a:pPr algn="ctr">
              <a:defRPr sz="3600" b="1">
                <a:solidFill>
                  <a:srgbClr val="C9A84C"/>
                </a:solidFill>
                <a:latin typeface="Arial"/>
              </a:defRPr>
            </a:pPr>
            <a:r>
              <a:t>~250</a:t>
            </a:r>
          </a:p>
        </p:txBody>
      </p:sp>
      <p:sp>
        <p:nvSpPr>
          <p:cNvPr id="7" name="TextBox 6"/>
          <p:cNvSpPr txBox="1"/>
          <p:nvPr/>
        </p:nvSpPr>
        <p:spPr>
          <a:xfrm>
            <a:off x="5212080" y="3977639"/>
            <a:ext cx="1645920" cy="365760"/>
          </a:xfrm>
          <a:prstGeom prst="rect">
            <a:avLst/>
          </a:prstGeom>
          <a:noFill/>
        </p:spPr>
        <p:txBody>
          <a:bodyPr wrap="square">
            <a:spAutoFit/>
          </a:bodyPr>
          <a:lstStyle/>
          <a:p>
            <a:pPr algn="ctr">
              <a:defRPr sz="1100" b="0">
                <a:solidFill>
                  <a:srgbClr val="6B7080"/>
                </a:solidFill>
                <a:latin typeface="Arial"/>
              </a:defRPr>
            </a:pPr>
            <a:r>
              <a:t>active SB construction set-asides weekly</a:t>
            </a:r>
          </a:p>
        </p:txBody>
      </p:sp>
      <p:sp>
        <p:nvSpPr>
          <p:cNvPr id="8" name="TextBox 7"/>
          <p:cNvSpPr txBox="1"/>
          <p:nvPr/>
        </p:nvSpPr>
        <p:spPr>
          <a:xfrm>
            <a:off x="7498079" y="3474720"/>
            <a:ext cx="1645920" cy="548640"/>
          </a:xfrm>
          <a:prstGeom prst="rect">
            <a:avLst/>
          </a:prstGeom>
          <a:noFill/>
        </p:spPr>
        <p:txBody>
          <a:bodyPr wrap="square">
            <a:spAutoFit/>
          </a:bodyPr>
          <a:lstStyle/>
          <a:p>
            <a:pPr algn="ctr">
              <a:defRPr sz="3600" b="1">
                <a:solidFill>
                  <a:srgbClr val="C9A84C"/>
                </a:solidFill>
                <a:latin typeface="Arial"/>
              </a:defRPr>
            </a:pPr>
            <a:r>
              <a:t>0</a:t>
            </a:r>
          </a:p>
        </p:txBody>
      </p:sp>
      <p:sp>
        <p:nvSpPr>
          <p:cNvPr id="9" name="TextBox 8"/>
          <p:cNvSpPr txBox="1"/>
          <p:nvPr/>
        </p:nvSpPr>
        <p:spPr>
          <a:xfrm>
            <a:off x="7498079" y="3977639"/>
            <a:ext cx="1645920" cy="365760"/>
          </a:xfrm>
          <a:prstGeom prst="rect">
            <a:avLst/>
          </a:prstGeom>
          <a:noFill/>
        </p:spPr>
        <p:txBody>
          <a:bodyPr wrap="square">
            <a:spAutoFit/>
          </a:bodyPr>
          <a:lstStyle/>
          <a:p>
            <a:pPr algn="ctr">
              <a:defRPr sz="1100" b="0">
                <a:solidFill>
                  <a:srgbClr val="6B7080"/>
                </a:solidFill>
                <a:latin typeface="Arial"/>
              </a:defRPr>
            </a:pPr>
            <a:r>
              <a:t>equipment/crews/payroll needed</a:t>
            </a:r>
          </a:p>
        </p:txBody>
      </p:sp>
      <p:sp>
        <p:nvSpPr>
          <p:cNvPr id="10" name="TextBox 9"/>
          <p:cNvSpPr txBox="1"/>
          <p:nvPr/>
        </p:nvSpPr>
        <p:spPr>
          <a:xfrm>
            <a:off x="0" y="4572000"/>
            <a:ext cx="12191695" cy="548640"/>
          </a:xfrm>
          <a:prstGeom prst="rect">
            <a:avLst/>
          </a:prstGeom>
          <a:noFill/>
        </p:spPr>
        <p:txBody>
          <a:bodyPr wrap="square">
            <a:spAutoFit/>
          </a:bodyPr>
          <a:lstStyle/>
          <a:p>
            <a:pPr algn="ctr">
              <a:defRPr sz="2200" b="1">
                <a:solidFill>
                  <a:srgbClr val="C9A84C"/>
                </a:solidFill>
                <a:latin typeface="Arial"/>
              </a:defRPr>
            </a:pPr>
            <a:r>
              <a:t>Scale comes from software and network, not headcount.</a:t>
            </a:r>
          </a:p>
        </p:txBody>
      </p:sp>
      <p:sp>
        <p:nvSpPr>
          <p:cNvPr id="11" name="TextBox 10"/>
          <p:cNvSpPr txBox="1"/>
          <p:nvPr/>
        </p:nvSpPr>
        <p:spPr>
          <a:xfrm>
            <a:off x="0" y="5486400"/>
            <a:ext cx="12191695" cy="365760"/>
          </a:xfrm>
          <a:prstGeom prst="rect">
            <a:avLst/>
          </a:prstGeom>
          <a:noFill/>
        </p:spPr>
        <p:txBody>
          <a:bodyPr wrap="square">
            <a:spAutoFit/>
          </a:bodyPr>
          <a:lstStyle/>
          <a:p>
            <a:pPr algn="ctr">
              <a:defRPr sz="1400" b="0">
                <a:solidFill>
                  <a:srgbClr val="6B7080"/>
                </a:solidFill>
                <a:latin typeface="Arial"/>
              </a:defRPr>
            </a:pPr>
            <a:r>
              <a:t>GovCon Engine · Partner Briefing · August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